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75" r:id="rId10"/>
    <p:sldId id="267" r:id="rId11"/>
    <p:sldId id="268" r:id="rId12"/>
    <p:sldId id="269" r:id="rId13"/>
    <p:sldId id="270" r:id="rId14"/>
    <p:sldId id="271" r:id="rId15"/>
    <p:sldId id="266" r:id="rId16"/>
    <p:sldId id="265" r:id="rId17"/>
    <p:sldId id="264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AC4993-A211-458F-A306-98295D75E750}" type="doc">
      <dgm:prSet loTypeId="urn:microsoft.com/office/officeart/2005/8/layout/list1" loCatId="list" qsTypeId="urn:microsoft.com/office/officeart/2005/8/quickstyle/simple1#1" qsCatId="simple" csTypeId="urn:microsoft.com/office/officeart/2005/8/colors/colorful5#1" csCatId="colorful" phldr="1"/>
      <dgm:spPr/>
    </dgm:pt>
    <dgm:pt modelId="{2436F7D1-01FB-4E5D-91CD-C7CA148C757F}">
      <dgm:prSet phldrT="[Text]"/>
      <dgm:spPr/>
      <dgm:t>
        <a:bodyPr/>
        <a:lstStyle/>
        <a:p>
          <a:r>
            <a:rPr lang="en-US" dirty="0"/>
            <a:t>Data Cleaning</a:t>
          </a:r>
          <a:endParaRPr lang="en-PK" dirty="0"/>
        </a:p>
      </dgm:t>
    </dgm:pt>
    <dgm:pt modelId="{03B79F92-9298-4820-B0C0-69BDDD342B1D}" type="parTrans" cxnId="{CE00ECF1-9766-4227-B1B2-7A3CCCE03E3E}">
      <dgm:prSet/>
      <dgm:spPr/>
      <dgm:t>
        <a:bodyPr/>
        <a:lstStyle/>
        <a:p>
          <a:endParaRPr lang="en-PK"/>
        </a:p>
      </dgm:t>
    </dgm:pt>
    <dgm:pt modelId="{B5C086F3-4187-45CA-A865-881C23C7EEEF}" type="sibTrans" cxnId="{CE00ECF1-9766-4227-B1B2-7A3CCCE03E3E}">
      <dgm:prSet/>
      <dgm:spPr/>
      <dgm:t>
        <a:bodyPr/>
        <a:lstStyle/>
        <a:p>
          <a:endParaRPr lang="en-PK"/>
        </a:p>
      </dgm:t>
    </dgm:pt>
    <dgm:pt modelId="{C9542703-5528-48B3-A016-8D1491372C5E}">
      <dgm:prSet phldrT="[Text]"/>
      <dgm:spPr/>
      <dgm:t>
        <a:bodyPr/>
        <a:lstStyle/>
        <a:p>
          <a:r>
            <a:rPr lang="en-US" dirty="0"/>
            <a:t>Understanding the Issue</a:t>
          </a:r>
          <a:endParaRPr lang="en-PK" dirty="0"/>
        </a:p>
      </dgm:t>
    </dgm:pt>
    <dgm:pt modelId="{0E312D3D-5F00-4E1C-A328-2E5607517E35}" type="parTrans" cxnId="{F0B084F6-54DC-4C13-A411-A5DDDE90343A}">
      <dgm:prSet/>
      <dgm:spPr/>
      <dgm:t>
        <a:bodyPr/>
        <a:lstStyle/>
        <a:p>
          <a:endParaRPr lang="en-PK"/>
        </a:p>
      </dgm:t>
    </dgm:pt>
    <dgm:pt modelId="{EB34BC4C-1401-4595-A0C7-23617A5135F6}" type="sibTrans" cxnId="{F0B084F6-54DC-4C13-A411-A5DDDE90343A}">
      <dgm:prSet/>
      <dgm:spPr/>
      <dgm:t>
        <a:bodyPr/>
        <a:lstStyle/>
        <a:p>
          <a:endParaRPr lang="en-PK"/>
        </a:p>
      </dgm:t>
    </dgm:pt>
    <dgm:pt modelId="{90A08EF8-0D80-4EEC-A106-64369887940A}">
      <dgm:prSet phldrT="[Text]"/>
      <dgm:spPr/>
      <dgm:t>
        <a:bodyPr/>
        <a:lstStyle/>
        <a:p>
          <a:r>
            <a:rPr lang="en-US" dirty="0"/>
            <a:t>Analysis (Descriptive &amp; Bivariate)</a:t>
          </a:r>
          <a:endParaRPr lang="en-PK" dirty="0"/>
        </a:p>
      </dgm:t>
    </dgm:pt>
    <dgm:pt modelId="{C5C2CB0E-6121-4434-B0B5-E0D4C613EE5D}" type="parTrans" cxnId="{FA8230A3-5FA7-46F1-874B-817D22B4F523}">
      <dgm:prSet/>
      <dgm:spPr/>
      <dgm:t>
        <a:bodyPr/>
        <a:lstStyle/>
        <a:p>
          <a:endParaRPr lang="en-PK"/>
        </a:p>
      </dgm:t>
    </dgm:pt>
    <dgm:pt modelId="{C57B3F95-DE11-485B-94C7-83C57EEB09D3}" type="sibTrans" cxnId="{FA8230A3-5FA7-46F1-874B-817D22B4F523}">
      <dgm:prSet/>
      <dgm:spPr/>
      <dgm:t>
        <a:bodyPr/>
        <a:lstStyle/>
        <a:p>
          <a:endParaRPr lang="en-PK"/>
        </a:p>
      </dgm:t>
    </dgm:pt>
    <dgm:pt modelId="{05775D6E-7640-42DA-8FF7-FF0380FA7FE5}">
      <dgm:prSet phldrT="[Text]"/>
      <dgm:spPr/>
      <dgm:t>
        <a:bodyPr/>
        <a:lstStyle/>
        <a:p>
          <a:r>
            <a:rPr lang="en-US" dirty="0"/>
            <a:t>Conclusion</a:t>
          </a:r>
          <a:endParaRPr lang="en-PK" dirty="0"/>
        </a:p>
      </dgm:t>
    </dgm:pt>
    <dgm:pt modelId="{161FAEA7-C430-4AE2-B672-098C02C7907A}" type="parTrans" cxnId="{72AC5449-63D6-4F16-9CB1-C0FE0702F64E}">
      <dgm:prSet/>
      <dgm:spPr/>
      <dgm:t>
        <a:bodyPr/>
        <a:lstStyle/>
        <a:p>
          <a:endParaRPr lang="en-PK"/>
        </a:p>
      </dgm:t>
    </dgm:pt>
    <dgm:pt modelId="{6F4F5DCC-2D77-491F-A683-DDEBE49EAF7A}" type="sibTrans" cxnId="{72AC5449-63D6-4F16-9CB1-C0FE0702F64E}">
      <dgm:prSet/>
      <dgm:spPr/>
      <dgm:t>
        <a:bodyPr/>
        <a:lstStyle/>
        <a:p>
          <a:endParaRPr lang="en-PK"/>
        </a:p>
      </dgm:t>
    </dgm:pt>
    <dgm:pt modelId="{534F7046-7B21-44F1-8E45-2AFECD36C1ED}">
      <dgm:prSet phldrT="[Text]"/>
      <dgm:spPr/>
      <dgm:t>
        <a:bodyPr/>
        <a:lstStyle/>
        <a:p>
          <a:r>
            <a:rPr lang="en-US" dirty="0"/>
            <a:t>Recommendation</a:t>
          </a:r>
          <a:endParaRPr lang="en-PK" dirty="0"/>
        </a:p>
      </dgm:t>
    </dgm:pt>
    <dgm:pt modelId="{0614EA9C-E36B-48B7-97D3-656720D73DF7}" type="parTrans" cxnId="{10BDB135-2FF3-49BF-B20B-7CC0AF75B060}">
      <dgm:prSet/>
      <dgm:spPr/>
      <dgm:t>
        <a:bodyPr/>
        <a:lstStyle/>
        <a:p>
          <a:endParaRPr lang="en-PK"/>
        </a:p>
      </dgm:t>
    </dgm:pt>
    <dgm:pt modelId="{4DA0F727-4242-4E34-9CF2-3F01B2494BF3}" type="sibTrans" cxnId="{10BDB135-2FF3-49BF-B20B-7CC0AF75B060}">
      <dgm:prSet/>
      <dgm:spPr/>
      <dgm:t>
        <a:bodyPr/>
        <a:lstStyle/>
        <a:p>
          <a:endParaRPr lang="en-PK"/>
        </a:p>
      </dgm:t>
    </dgm:pt>
    <dgm:pt modelId="{795A278F-30C4-4F7D-BE5E-37D72F8E9850}" type="pres">
      <dgm:prSet presAssocID="{1BAC4993-A211-458F-A306-98295D75E750}" presName="linear" presStyleCnt="0">
        <dgm:presLayoutVars>
          <dgm:dir/>
          <dgm:animLvl val="lvl"/>
          <dgm:resizeHandles val="exact"/>
        </dgm:presLayoutVars>
      </dgm:prSet>
      <dgm:spPr/>
    </dgm:pt>
    <dgm:pt modelId="{EE0A7A88-A939-4584-AA0A-E91E50071265}" type="pres">
      <dgm:prSet presAssocID="{2436F7D1-01FB-4E5D-91CD-C7CA148C757F}" presName="parentLin" presStyleCnt="0"/>
      <dgm:spPr/>
    </dgm:pt>
    <dgm:pt modelId="{EFB82CD6-957E-488E-B9D1-93F36E422B69}" type="pres">
      <dgm:prSet presAssocID="{2436F7D1-01FB-4E5D-91CD-C7CA148C757F}" presName="parentLeftMargin" presStyleLbl="node1" presStyleIdx="0" presStyleCnt="5"/>
      <dgm:spPr/>
    </dgm:pt>
    <dgm:pt modelId="{9691BE6A-27D1-4766-BE43-3381B02BB746}" type="pres">
      <dgm:prSet presAssocID="{2436F7D1-01FB-4E5D-91CD-C7CA148C757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F92E983-D551-4EC6-8CFC-3BBB65FE197C}" type="pres">
      <dgm:prSet presAssocID="{2436F7D1-01FB-4E5D-91CD-C7CA148C757F}" presName="negativeSpace" presStyleCnt="0"/>
      <dgm:spPr/>
    </dgm:pt>
    <dgm:pt modelId="{8A3EC5BB-E715-4A46-88BA-6E2CCBA2061E}" type="pres">
      <dgm:prSet presAssocID="{2436F7D1-01FB-4E5D-91CD-C7CA148C757F}" presName="childText" presStyleLbl="conFgAcc1" presStyleIdx="0" presStyleCnt="5">
        <dgm:presLayoutVars>
          <dgm:bulletEnabled val="1"/>
        </dgm:presLayoutVars>
      </dgm:prSet>
      <dgm:spPr/>
    </dgm:pt>
    <dgm:pt modelId="{8EE2A1A8-2019-426F-83C6-5B9FB50B57B9}" type="pres">
      <dgm:prSet presAssocID="{B5C086F3-4187-45CA-A865-881C23C7EEEF}" presName="spaceBetweenRectangles" presStyleCnt="0"/>
      <dgm:spPr/>
    </dgm:pt>
    <dgm:pt modelId="{CE9EF936-63C3-4FF9-B07D-BDD0359CCA98}" type="pres">
      <dgm:prSet presAssocID="{C9542703-5528-48B3-A016-8D1491372C5E}" presName="parentLin" presStyleCnt="0"/>
      <dgm:spPr/>
    </dgm:pt>
    <dgm:pt modelId="{B90C59B7-2969-432B-9F56-52408F3E33E6}" type="pres">
      <dgm:prSet presAssocID="{C9542703-5528-48B3-A016-8D1491372C5E}" presName="parentLeftMargin" presStyleLbl="node1" presStyleIdx="0" presStyleCnt="5"/>
      <dgm:spPr/>
    </dgm:pt>
    <dgm:pt modelId="{82543954-E69D-41F1-A900-8D7F301367D2}" type="pres">
      <dgm:prSet presAssocID="{C9542703-5528-48B3-A016-8D1491372C5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470EB8A-A288-451E-9186-9266CFD2DE79}" type="pres">
      <dgm:prSet presAssocID="{C9542703-5528-48B3-A016-8D1491372C5E}" presName="negativeSpace" presStyleCnt="0"/>
      <dgm:spPr/>
    </dgm:pt>
    <dgm:pt modelId="{0B64A6BD-C6A3-479F-A13D-346F6D307A55}" type="pres">
      <dgm:prSet presAssocID="{C9542703-5528-48B3-A016-8D1491372C5E}" presName="childText" presStyleLbl="conFgAcc1" presStyleIdx="1" presStyleCnt="5">
        <dgm:presLayoutVars>
          <dgm:bulletEnabled val="1"/>
        </dgm:presLayoutVars>
      </dgm:prSet>
      <dgm:spPr/>
    </dgm:pt>
    <dgm:pt modelId="{4A2F60ED-3B8F-4606-AA60-12E879321554}" type="pres">
      <dgm:prSet presAssocID="{EB34BC4C-1401-4595-A0C7-23617A5135F6}" presName="spaceBetweenRectangles" presStyleCnt="0"/>
      <dgm:spPr/>
    </dgm:pt>
    <dgm:pt modelId="{5EDB135E-2782-40D3-A352-D689F04D0C5E}" type="pres">
      <dgm:prSet presAssocID="{90A08EF8-0D80-4EEC-A106-64369887940A}" presName="parentLin" presStyleCnt="0"/>
      <dgm:spPr/>
    </dgm:pt>
    <dgm:pt modelId="{3D3B58CE-E810-4829-A92F-CEF700BAE8D5}" type="pres">
      <dgm:prSet presAssocID="{90A08EF8-0D80-4EEC-A106-64369887940A}" presName="parentLeftMargin" presStyleLbl="node1" presStyleIdx="1" presStyleCnt="5"/>
      <dgm:spPr/>
    </dgm:pt>
    <dgm:pt modelId="{14AA575C-8BB4-4282-B96D-AD82BE542C34}" type="pres">
      <dgm:prSet presAssocID="{90A08EF8-0D80-4EEC-A106-64369887940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5100895-D7E6-4AD4-9B51-9A8507C1226F}" type="pres">
      <dgm:prSet presAssocID="{90A08EF8-0D80-4EEC-A106-64369887940A}" presName="negativeSpace" presStyleCnt="0"/>
      <dgm:spPr/>
    </dgm:pt>
    <dgm:pt modelId="{01104441-AF71-43BA-8D09-4FA34D35AE49}" type="pres">
      <dgm:prSet presAssocID="{90A08EF8-0D80-4EEC-A106-64369887940A}" presName="childText" presStyleLbl="conFgAcc1" presStyleIdx="2" presStyleCnt="5">
        <dgm:presLayoutVars>
          <dgm:bulletEnabled val="1"/>
        </dgm:presLayoutVars>
      </dgm:prSet>
      <dgm:spPr/>
    </dgm:pt>
    <dgm:pt modelId="{01C9357D-39EE-441D-9025-72E093C4C436}" type="pres">
      <dgm:prSet presAssocID="{C57B3F95-DE11-485B-94C7-83C57EEB09D3}" presName="spaceBetweenRectangles" presStyleCnt="0"/>
      <dgm:spPr/>
    </dgm:pt>
    <dgm:pt modelId="{C400168E-29C2-411E-A95C-7FF9E7B07146}" type="pres">
      <dgm:prSet presAssocID="{05775D6E-7640-42DA-8FF7-FF0380FA7FE5}" presName="parentLin" presStyleCnt="0"/>
      <dgm:spPr/>
    </dgm:pt>
    <dgm:pt modelId="{7D6D183E-04D5-4083-974F-24C5244418C4}" type="pres">
      <dgm:prSet presAssocID="{05775D6E-7640-42DA-8FF7-FF0380FA7FE5}" presName="parentLeftMargin" presStyleLbl="node1" presStyleIdx="2" presStyleCnt="5"/>
      <dgm:spPr/>
    </dgm:pt>
    <dgm:pt modelId="{F48E3A15-B050-4BBD-A2DB-14244E8834CD}" type="pres">
      <dgm:prSet presAssocID="{05775D6E-7640-42DA-8FF7-FF0380FA7FE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10B8342-164A-4F0B-899E-E3CA9D7D5661}" type="pres">
      <dgm:prSet presAssocID="{05775D6E-7640-42DA-8FF7-FF0380FA7FE5}" presName="negativeSpace" presStyleCnt="0"/>
      <dgm:spPr/>
    </dgm:pt>
    <dgm:pt modelId="{7A953F7C-BE00-47F8-889B-62D2A5085155}" type="pres">
      <dgm:prSet presAssocID="{05775D6E-7640-42DA-8FF7-FF0380FA7FE5}" presName="childText" presStyleLbl="conFgAcc1" presStyleIdx="3" presStyleCnt="5">
        <dgm:presLayoutVars>
          <dgm:bulletEnabled val="1"/>
        </dgm:presLayoutVars>
      </dgm:prSet>
      <dgm:spPr/>
    </dgm:pt>
    <dgm:pt modelId="{F3FD2CD8-775E-4000-B804-BE24DA81D390}" type="pres">
      <dgm:prSet presAssocID="{6F4F5DCC-2D77-491F-A683-DDEBE49EAF7A}" presName="spaceBetweenRectangles" presStyleCnt="0"/>
      <dgm:spPr/>
    </dgm:pt>
    <dgm:pt modelId="{C18AA7A4-534C-462D-B8BD-E0A386436848}" type="pres">
      <dgm:prSet presAssocID="{534F7046-7B21-44F1-8E45-2AFECD36C1ED}" presName="parentLin" presStyleCnt="0"/>
      <dgm:spPr/>
    </dgm:pt>
    <dgm:pt modelId="{4393B209-EFA7-4E7C-90D5-F71902DF51E2}" type="pres">
      <dgm:prSet presAssocID="{534F7046-7B21-44F1-8E45-2AFECD36C1ED}" presName="parentLeftMargin" presStyleLbl="node1" presStyleIdx="3" presStyleCnt="5"/>
      <dgm:spPr/>
    </dgm:pt>
    <dgm:pt modelId="{ADC27CCA-31CF-483A-9CE8-2D56EC39A3EF}" type="pres">
      <dgm:prSet presAssocID="{534F7046-7B21-44F1-8E45-2AFECD36C1E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965FB38-03E0-4AF3-AD58-B19BD2A5DB6E}" type="pres">
      <dgm:prSet presAssocID="{534F7046-7B21-44F1-8E45-2AFECD36C1ED}" presName="negativeSpace" presStyleCnt="0"/>
      <dgm:spPr/>
    </dgm:pt>
    <dgm:pt modelId="{AAE1464A-5F09-47DE-A1FA-34A2CE3E4530}" type="pres">
      <dgm:prSet presAssocID="{534F7046-7B21-44F1-8E45-2AFECD36C1E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7B7A202-A55C-442F-9FF9-4F95BBB2310F}" type="presOf" srcId="{2436F7D1-01FB-4E5D-91CD-C7CA148C757F}" destId="{EFB82CD6-957E-488E-B9D1-93F36E422B69}" srcOrd="0" destOrd="0" presId="urn:microsoft.com/office/officeart/2005/8/layout/list1"/>
    <dgm:cxn modelId="{17E4650F-615A-41B2-A9DD-4C28CB4B549D}" type="presOf" srcId="{534F7046-7B21-44F1-8E45-2AFECD36C1ED}" destId="{4393B209-EFA7-4E7C-90D5-F71902DF51E2}" srcOrd="0" destOrd="0" presId="urn:microsoft.com/office/officeart/2005/8/layout/list1"/>
    <dgm:cxn modelId="{517F5124-0432-453B-BBB6-D4E3D1E3AD49}" type="presOf" srcId="{90A08EF8-0D80-4EEC-A106-64369887940A}" destId="{14AA575C-8BB4-4282-B96D-AD82BE542C34}" srcOrd="1" destOrd="0" presId="urn:microsoft.com/office/officeart/2005/8/layout/list1"/>
    <dgm:cxn modelId="{56506627-1A37-4737-88C9-5E1E904566B5}" type="presOf" srcId="{2436F7D1-01FB-4E5D-91CD-C7CA148C757F}" destId="{9691BE6A-27D1-4766-BE43-3381B02BB746}" srcOrd="1" destOrd="0" presId="urn:microsoft.com/office/officeart/2005/8/layout/list1"/>
    <dgm:cxn modelId="{8E08652C-45C6-40E8-85D0-61A12963107D}" type="presOf" srcId="{05775D6E-7640-42DA-8FF7-FF0380FA7FE5}" destId="{7D6D183E-04D5-4083-974F-24C5244418C4}" srcOrd="0" destOrd="0" presId="urn:microsoft.com/office/officeart/2005/8/layout/list1"/>
    <dgm:cxn modelId="{AD27C131-B034-4873-88F3-ED82FAAF962C}" type="presOf" srcId="{534F7046-7B21-44F1-8E45-2AFECD36C1ED}" destId="{ADC27CCA-31CF-483A-9CE8-2D56EC39A3EF}" srcOrd="1" destOrd="0" presId="urn:microsoft.com/office/officeart/2005/8/layout/list1"/>
    <dgm:cxn modelId="{10BDB135-2FF3-49BF-B20B-7CC0AF75B060}" srcId="{1BAC4993-A211-458F-A306-98295D75E750}" destId="{534F7046-7B21-44F1-8E45-2AFECD36C1ED}" srcOrd="4" destOrd="0" parTransId="{0614EA9C-E36B-48B7-97D3-656720D73DF7}" sibTransId="{4DA0F727-4242-4E34-9CF2-3F01B2494BF3}"/>
    <dgm:cxn modelId="{72AC5449-63D6-4F16-9CB1-C0FE0702F64E}" srcId="{1BAC4993-A211-458F-A306-98295D75E750}" destId="{05775D6E-7640-42DA-8FF7-FF0380FA7FE5}" srcOrd="3" destOrd="0" parTransId="{161FAEA7-C430-4AE2-B672-098C02C7907A}" sibTransId="{6F4F5DCC-2D77-491F-A683-DDEBE49EAF7A}"/>
    <dgm:cxn modelId="{68495552-7142-4D01-99BF-0C58B5D12095}" type="presOf" srcId="{05775D6E-7640-42DA-8FF7-FF0380FA7FE5}" destId="{F48E3A15-B050-4BBD-A2DB-14244E8834CD}" srcOrd="1" destOrd="0" presId="urn:microsoft.com/office/officeart/2005/8/layout/list1"/>
    <dgm:cxn modelId="{1C09A756-909F-450B-A26A-A897B67C66DE}" type="presOf" srcId="{C9542703-5528-48B3-A016-8D1491372C5E}" destId="{B90C59B7-2969-432B-9F56-52408F3E33E6}" srcOrd="0" destOrd="0" presId="urn:microsoft.com/office/officeart/2005/8/layout/list1"/>
    <dgm:cxn modelId="{77AE8881-F405-4CF6-AC2F-9FA541C9A190}" type="presOf" srcId="{C9542703-5528-48B3-A016-8D1491372C5E}" destId="{82543954-E69D-41F1-A900-8D7F301367D2}" srcOrd="1" destOrd="0" presId="urn:microsoft.com/office/officeart/2005/8/layout/list1"/>
    <dgm:cxn modelId="{FA8230A3-5FA7-46F1-874B-817D22B4F523}" srcId="{1BAC4993-A211-458F-A306-98295D75E750}" destId="{90A08EF8-0D80-4EEC-A106-64369887940A}" srcOrd="2" destOrd="0" parTransId="{C5C2CB0E-6121-4434-B0B5-E0D4C613EE5D}" sibTransId="{C57B3F95-DE11-485B-94C7-83C57EEB09D3}"/>
    <dgm:cxn modelId="{C4127FC0-2D69-4F4E-B580-D0B52E6B82CE}" type="presOf" srcId="{1BAC4993-A211-458F-A306-98295D75E750}" destId="{795A278F-30C4-4F7D-BE5E-37D72F8E9850}" srcOrd="0" destOrd="0" presId="urn:microsoft.com/office/officeart/2005/8/layout/list1"/>
    <dgm:cxn modelId="{171E2BE1-A540-4CC0-B249-6C10EAA0BD68}" type="presOf" srcId="{90A08EF8-0D80-4EEC-A106-64369887940A}" destId="{3D3B58CE-E810-4829-A92F-CEF700BAE8D5}" srcOrd="0" destOrd="0" presId="urn:microsoft.com/office/officeart/2005/8/layout/list1"/>
    <dgm:cxn modelId="{CE00ECF1-9766-4227-B1B2-7A3CCCE03E3E}" srcId="{1BAC4993-A211-458F-A306-98295D75E750}" destId="{2436F7D1-01FB-4E5D-91CD-C7CA148C757F}" srcOrd="0" destOrd="0" parTransId="{03B79F92-9298-4820-B0C0-69BDDD342B1D}" sibTransId="{B5C086F3-4187-45CA-A865-881C23C7EEEF}"/>
    <dgm:cxn modelId="{F0B084F6-54DC-4C13-A411-A5DDDE90343A}" srcId="{1BAC4993-A211-458F-A306-98295D75E750}" destId="{C9542703-5528-48B3-A016-8D1491372C5E}" srcOrd="1" destOrd="0" parTransId="{0E312D3D-5F00-4E1C-A328-2E5607517E35}" sibTransId="{EB34BC4C-1401-4595-A0C7-23617A5135F6}"/>
    <dgm:cxn modelId="{4DAD6D47-457C-44DA-8C57-8A7F5EC5C7DD}" type="presParOf" srcId="{795A278F-30C4-4F7D-BE5E-37D72F8E9850}" destId="{EE0A7A88-A939-4584-AA0A-E91E50071265}" srcOrd="0" destOrd="0" presId="urn:microsoft.com/office/officeart/2005/8/layout/list1"/>
    <dgm:cxn modelId="{B7D152EE-AAE0-4A71-A217-1909B4041B60}" type="presParOf" srcId="{EE0A7A88-A939-4584-AA0A-E91E50071265}" destId="{EFB82CD6-957E-488E-B9D1-93F36E422B69}" srcOrd="0" destOrd="0" presId="urn:microsoft.com/office/officeart/2005/8/layout/list1"/>
    <dgm:cxn modelId="{80C994E5-2410-4EE1-BFAF-F480F5DAFCEF}" type="presParOf" srcId="{EE0A7A88-A939-4584-AA0A-E91E50071265}" destId="{9691BE6A-27D1-4766-BE43-3381B02BB746}" srcOrd="1" destOrd="0" presId="urn:microsoft.com/office/officeart/2005/8/layout/list1"/>
    <dgm:cxn modelId="{DF828B84-C1ED-40FC-B9AC-B5F02D3C3A98}" type="presParOf" srcId="{795A278F-30C4-4F7D-BE5E-37D72F8E9850}" destId="{EF92E983-D551-4EC6-8CFC-3BBB65FE197C}" srcOrd="1" destOrd="0" presId="urn:microsoft.com/office/officeart/2005/8/layout/list1"/>
    <dgm:cxn modelId="{A2E3BA7F-658C-4A7C-9FEC-15A14934FBBB}" type="presParOf" srcId="{795A278F-30C4-4F7D-BE5E-37D72F8E9850}" destId="{8A3EC5BB-E715-4A46-88BA-6E2CCBA2061E}" srcOrd="2" destOrd="0" presId="urn:microsoft.com/office/officeart/2005/8/layout/list1"/>
    <dgm:cxn modelId="{6132247A-CA33-4EE6-9CD9-FD3558344534}" type="presParOf" srcId="{795A278F-30C4-4F7D-BE5E-37D72F8E9850}" destId="{8EE2A1A8-2019-426F-83C6-5B9FB50B57B9}" srcOrd="3" destOrd="0" presId="urn:microsoft.com/office/officeart/2005/8/layout/list1"/>
    <dgm:cxn modelId="{B9F1EF44-B2C7-4876-8BE8-E159A83B19B7}" type="presParOf" srcId="{795A278F-30C4-4F7D-BE5E-37D72F8E9850}" destId="{CE9EF936-63C3-4FF9-B07D-BDD0359CCA98}" srcOrd="4" destOrd="0" presId="urn:microsoft.com/office/officeart/2005/8/layout/list1"/>
    <dgm:cxn modelId="{56DCB95A-B0DE-4587-BF56-3F3CD737FB04}" type="presParOf" srcId="{CE9EF936-63C3-4FF9-B07D-BDD0359CCA98}" destId="{B90C59B7-2969-432B-9F56-52408F3E33E6}" srcOrd="0" destOrd="0" presId="urn:microsoft.com/office/officeart/2005/8/layout/list1"/>
    <dgm:cxn modelId="{E2A2985F-C7B3-4DC0-BBAF-BB8B3C8673AF}" type="presParOf" srcId="{CE9EF936-63C3-4FF9-B07D-BDD0359CCA98}" destId="{82543954-E69D-41F1-A900-8D7F301367D2}" srcOrd="1" destOrd="0" presId="urn:microsoft.com/office/officeart/2005/8/layout/list1"/>
    <dgm:cxn modelId="{B280ED32-B150-4274-9117-9C67EDA61A4F}" type="presParOf" srcId="{795A278F-30C4-4F7D-BE5E-37D72F8E9850}" destId="{E470EB8A-A288-451E-9186-9266CFD2DE79}" srcOrd="5" destOrd="0" presId="urn:microsoft.com/office/officeart/2005/8/layout/list1"/>
    <dgm:cxn modelId="{E411C668-F982-46F8-83BF-EC55E517E900}" type="presParOf" srcId="{795A278F-30C4-4F7D-BE5E-37D72F8E9850}" destId="{0B64A6BD-C6A3-479F-A13D-346F6D307A55}" srcOrd="6" destOrd="0" presId="urn:microsoft.com/office/officeart/2005/8/layout/list1"/>
    <dgm:cxn modelId="{C4CBA162-C943-4900-B5D4-F8E441899826}" type="presParOf" srcId="{795A278F-30C4-4F7D-BE5E-37D72F8E9850}" destId="{4A2F60ED-3B8F-4606-AA60-12E879321554}" srcOrd="7" destOrd="0" presId="urn:microsoft.com/office/officeart/2005/8/layout/list1"/>
    <dgm:cxn modelId="{30DD2A3E-DC81-4C37-ABC3-AE6B007C4F6A}" type="presParOf" srcId="{795A278F-30C4-4F7D-BE5E-37D72F8E9850}" destId="{5EDB135E-2782-40D3-A352-D689F04D0C5E}" srcOrd="8" destOrd="0" presId="urn:microsoft.com/office/officeart/2005/8/layout/list1"/>
    <dgm:cxn modelId="{DCFA54F8-64F7-4322-9334-8075DB1569B0}" type="presParOf" srcId="{5EDB135E-2782-40D3-A352-D689F04D0C5E}" destId="{3D3B58CE-E810-4829-A92F-CEF700BAE8D5}" srcOrd="0" destOrd="0" presId="urn:microsoft.com/office/officeart/2005/8/layout/list1"/>
    <dgm:cxn modelId="{247BDD65-973F-456D-87D5-CA30A4C413C7}" type="presParOf" srcId="{5EDB135E-2782-40D3-A352-D689F04D0C5E}" destId="{14AA575C-8BB4-4282-B96D-AD82BE542C34}" srcOrd="1" destOrd="0" presId="urn:microsoft.com/office/officeart/2005/8/layout/list1"/>
    <dgm:cxn modelId="{16D5A9B8-F4EB-4709-B448-1F80F8F98B95}" type="presParOf" srcId="{795A278F-30C4-4F7D-BE5E-37D72F8E9850}" destId="{95100895-D7E6-4AD4-9B51-9A8507C1226F}" srcOrd="9" destOrd="0" presId="urn:microsoft.com/office/officeart/2005/8/layout/list1"/>
    <dgm:cxn modelId="{D9DE01AB-5C81-4772-8BC4-5CDA1B54F963}" type="presParOf" srcId="{795A278F-30C4-4F7D-BE5E-37D72F8E9850}" destId="{01104441-AF71-43BA-8D09-4FA34D35AE49}" srcOrd="10" destOrd="0" presId="urn:microsoft.com/office/officeart/2005/8/layout/list1"/>
    <dgm:cxn modelId="{293E29F3-5EF4-4DC2-9EA6-9D2882233B0B}" type="presParOf" srcId="{795A278F-30C4-4F7D-BE5E-37D72F8E9850}" destId="{01C9357D-39EE-441D-9025-72E093C4C436}" srcOrd="11" destOrd="0" presId="urn:microsoft.com/office/officeart/2005/8/layout/list1"/>
    <dgm:cxn modelId="{94B7C862-B49E-4C0F-87B4-F5472FC1E748}" type="presParOf" srcId="{795A278F-30C4-4F7D-BE5E-37D72F8E9850}" destId="{C400168E-29C2-411E-A95C-7FF9E7B07146}" srcOrd="12" destOrd="0" presId="urn:microsoft.com/office/officeart/2005/8/layout/list1"/>
    <dgm:cxn modelId="{109D4E5A-8262-4ED4-8564-A5344DF7EEF7}" type="presParOf" srcId="{C400168E-29C2-411E-A95C-7FF9E7B07146}" destId="{7D6D183E-04D5-4083-974F-24C5244418C4}" srcOrd="0" destOrd="0" presId="urn:microsoft.com/office/officeart/2005/8/layout/list1"/>
    <dgm:cxn modelId="{C9F1B997-A4DF-4F55-ADB5-190BB8383BBE}" type="presParOf" srcId="{C400168E-29C2-411E-A95C-7FF9E7B07146}" destId="{F48E3A15-B050-4BBD-A2DB-14244E8834CD}" srcOrd="1" destOrd="0" presId="urn:microsoft.com/office/officeart/2005/8/layout/list1"/>
    <dgm:cxn modelId="{FA2EF9C6-A451-4640-9FC8-FA0996600EF2}" type="presParOf" srcId="{795A278F-30C4-4F7D-BE5E-37D72F8E9850}" destId="{A10B8342-164A-4F0B-899E-E3CA9D7D5661}" srcOrd="13" destOrd="0" presId="urn:microsoft.com/office/officeart/2005/8/layout/list1"/>
    <dgm:cxn modelId="{941F0893-A664-4D1F-97C1-215BB34B60BC}" type="presParOf" srcId="{795A278F-30C4-4F7D-BE5E-37D72F8E9850}" destId="{7A953F7C-BE00-47F8-889B-62D2A5085155}" srcOrd="14" destOrd="0" presId="urn:microsoft.com/office/officeart/2005/8/layout/list1"/>
    <dgm:cxn modelId="{CFE42BC9-46F2-4644-8EC5-FB6372D68B11}" type="presParOf" srcId="{795A278F-30C4-4F7D-BE5E-37D72F8E9850}" destId="{F3FD2CD8-775E-4000-B804-BE24DA81D390}" srcOrd="15" destOrd="0" presId="urn:microsoft.com/office/officeart/2005/8/layout/list1"/>
    <dgm:cxn modelId="{069AAF75-E7B7-4259-A57F-8DFC292D4ED2}" type="presParOf" srcId="{795A278F-30C4-4F7D-BE5E-37D72F8E9850}" destId="{C18AA7A4-534C-462D-B8BD-E0A386436848}" srcOrd="16" destOrd="0" presId="urn:microsoft.com/office/officeart/2005/8/layout/list1"/>
    <dgm:cxn modelId="{43024AB3-0EED-4ED1-A428-0619D2819573}" type="presParOf" srcId="{C18AA7A4-534C-462D-B8BD-E0A386436848}" destId="{4393B209-EFA7-4E7C-90D5-F71902DF51E2}" srcOrd="0" destOrd="0" presId="urn:microsoft.com/office/officeart/2005/8/layout/list1"/>
    <dgm:cxn modelId="{99AC0E8C-F3CF-42EF-A0D2-F97431691BFC}" type="presParOf" srcId="{C18AA7A4-534C-462D-B8BD-E0A386436848}" destId="{ADC27CCA-31CF-483A-9CE8-2D56EC39A3EF}" srcOrd="1" destOrd="0" presId="urn:microsoft.com/office/officeart/2005/8/layout/list1"/>
    <dgm:cxn modelId="{57B20ADC-1C41-4F30-8FB8-39A9007FF351}" type="presParOf" srcId="{795A278F-30C4-4F7D-BE5E-37D72F8E9850}" destId="{0965FB38-03E0-4AF3-AD58-B19BD2A5DB6E}" srcOrd="17" destOrd="0" presId="urn:microsoft.com/office/officeart/2005/8/layout/list1"/>
    <dgm:cxn modelId="{39FE7935-7C67-42F2-84E4-27953F78973F}" type="presParOf" srcId="{795A278F-30C4-4F7D-BE5E-37D72F8E9850}" destId="{AAE1464A-5F09-47DE-A1FA-34A2CE3E453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544972-ED3E-4C54-8F5A-41905CB486C9}" type="doc">
      <dgm:prSet loTypeId="urn:microsoft.com/office/officeart/2005/8/layout/default" loCatId="list" qsTypeId="urn:microsoft.com/office/officeart/2005/8/quickstyle/simple1#2" qsCatId="simple" csTypeId="urn:microsoft.com/office/officeart/2005/8/colors/accent1_2#1" csCatId="accent1" phldr="1"/>
      <dgm:spPr/>
      <dgm:t>
        <a:bodyPr/>
        <a:lstStyle/>
        <a:p>
          <a:endParaRPr lang="en-PK"/>
        </a:p>
      </dgm:t>
    </dgm:pt>
    <dgm:pt modelId="{6F53A31A-32FD-4A85-80C4-3DD5F86C0D12}">
      <dgm:prSet phldrT="[Text]"/>
      <dgm:spPr/>
      <dgm:t>
        <a:bodyPr/>
        <a:lstStyle/>
        <a:p>
          <a:r>
            <a:rPr lang="en-US" b="1" dirty="0"/>
            <a:t>Improve Healthcare</a:t>
          </a:r>
          <a:r>
            <a:rPr lang="en-US" dirty="0"/>
            <a:t>: Invest in healthcare facilities focusing on mental &amp; preventive care to boost life expectancy &amp; resilience</a:t>
          </a:r>
          <a:endParaRPr lang="en-PK" dirty="0"/>
        </a:p>
      </dgm:t>
    </dgm:pt>
    <dgm:pt modelId="{E5A1AE49-382C-40EE-BB1C-FB81D7F13849}" type="parTrans" cxnId="{C000BEA2-077F-4D5D-85BC-3EF562745DA9}">
      <dgm:prSet/>
      <dgm:spPr/>
      <dgm:t>
        <a:bodyPr/>
        <a:lstStyle/>
        <a:p>
          <a:endParaRPr lang="en-PK"/>
        </a:p>
      </dgm:t>
    </dgm:pt>
    <dgm:pt modelId="{126FAC07-5B92-4114-9E02-A2773187308B}" type="sibTrans" cxnId="{C000BEA2-077F-4D5D-85BC-3EF562745DA9}">
      <dgm:prSet/>
      <dgm:spPr/>
      <dgm:t>
        <a:bodyPr/>
        <a:lstStyle/>
        <a:p>
          <a:endParaRPr lang="en-PK"/>
        </a:p>
      </dgm:t>
    </dgm:pt>
    <dgm:pt modelId="{361B775E-4B87-4CE8-98B6-1813D835291B}">
      <dgm:prSet phldrT="[Text]"/>
      <dgm:spPr/>
      <dgm:t>
        <a:bodyPr/>
        <a:lstStyle/>
        <a:p>
          <a:r>
            <a:rPr lang="en-US" b="1" dirty="0"/>
            <a:t>Strengthen Social Support</a:t>
          </a:r>
          <a:r>
            <a:rPr lang="en-US" dirty="0"/>
            <a:t>: Encourage community programs and welfare policies to enhance trust &amp; reliance within societies </a:t>
          </a:r>
          <a:endParaRPr lang="en-PK" dirty="0"/>
        </a:p>
      </dgm:t>
    </dgm:pt>
    <dgm:pt modelId="{68FB7A51-69FC-46AE-AC47-DA7C21524D8A}" type="parTrans" cxnId="{41DF8351-51AE-49A6-A285-881618865E7E}">
      <dgm:prSet/>
      <dgm:spPr/>
      <dgm:t>
        <a:bodyPr/>
        <a:lstStyle/>
        <a:p>
          <a:endParaRPr lang="en-PK"/>
        </a:p>
      </dgm:t>
    </dgm:pt>
    <dgm:pt modelId="{FE5C87C0-C9A4-4A9C-B7E3-28ED9F8FE45A}" type="sibTrans" cxnId="{41DF8351-51AE-49A6-A285-881618865E7E}">
      <dgm:prSet/>
      <dgm:spPr/>
      <dgm:t>
        <a:bodyPr/>
        <a:lstStyle/>
        <a:p>
          <a:endParaRPr lang="en-PK"/>
        </a:p>
      </dgm:t>
    </dgm:pt>
    <dgm:pt modelId="{09A211C2-60A4-4C88-B47E-BAF6214D53E7}">
      <dgm:prSet phldrT="[Text]"/>
      <dgm:spPr/>
      <dgm:t>
        <a:bodyPr/>
        <a:lstStyle/>
        <a:p>
          <a:r>
            <a:rPr lang="en-US" b="1" dirty="0"/>
            <a:t>Enhance Economic Stability</a:t>
          </a:r>
          <a:r>
            <a:rPr lang="en-US" dirty="0"/>
            <a:t>: Create opportunities for sustainable growth through job opportunities, fair wages and entrepreneurship support</a:t>
          </a:r>
          <a:endParaRPr lang="en-PK" dirty="0"/>
        </a:p>
      </dgm:t>
    </dgm:pt>
    <dgm:pt modelId="{2101A00A-9251-4295-BCCA-4ED494A001D0}" type="parTrans" cxnId="{F0B798FF-C269-4B06-9AF1-CDE4176CB36A}">
      <dgm:prSet/>
      <dgm:spPr/>
      <dgm:t>
        <a:bodyPr/>
        <a:lstStyle/>
        <a:p>
          <a:endParaRPr lang="en-PK"/>
        </a:p>
      </dgm:t>
    </dgm:pt>
    <dgm:pt modelId="{737CFE31-CA83-416E-B16C-DB3F43F93B56}" type="sibTrans" cxnId="{F0B798FF-C269-4B06-9AF1-CDE4176CB36A}">
      <dgm:prSet/>
      <dgm:spPr/>
      <dgm:t>
        <a:bodyPr/>
        <a:lstStyle/>
        <a:p>
          <a:endParaRPr lang="en-PK"/>
        </a:p>
      </dgm:t>
    </dgm:pt>
    <dgm:pt modelId="{8FD0A4E5-1207-424C-9607-14341D657AA1}">
      <dgm:prSet phldrT="[Text]"/>
      <dgm:spPr/>
      <dgm:t>
        <a:bodyPr/>
        <a:lstStyle/>
        <a:p>
          <a:r>
            <a:rPr lang="en-US" b="1" dirty="0"/>
            <a:t>Build Governance Trust</a:t>
          </a:r>
          <a:r>
            <a:rPr lang="en-US" dirty="0"/>
            <a:t>: Foster transparency and combat corruption to improve public confidence in institutions</a:t>
          </a:r>
          <a:endParaRPr lang="en-PK" dirty="0"/>
        </a:p>
      </dgm:t>
    </dgm:pt>
    <dgm:pt modelId="{BEDC0C1B-32C3-4522-8CD4-B86409F03C2F}" type="parTrans" cxnId="{77AF560C-C48B-499F-8EDC-6DF194AAFA56}">
      <dgm:prSet/>
      <dgm:spPr/>
      <dgm:t>
        <a:bodyPr/>
        <a:lstStyle/>
        <a:p>
          <a:endParaRPr lang="en-PK"/>
        </a:p>
      </dgm:t>
    </dgm:pt>
    <dgm:pt modelId="{5A43A08F-83D8-4348-A496-FCD9139DD49A}" type="sibTrans" cxnId="{77AF560C-C48B-499F-8EDC-6DF194AAFA56}">
      <dgm:prSet/>
      <dgm:spPr/>
      <dgm:t>
        <a:bodyPr/>
        <a:lstStyle/>
        <a:p>
          <a:endParaRPr lang="en-PK"/>
        </a:p>
      </dgm:t>
    </dgm:pt>
    <dgm:pt modelId="{39CC3601-0025-4D76-8815-5C43EC7C054D}">
      <dgm:prSet phldrT="[Text]"/>
      <dgm:spPr/>
      <dgm:t>
        <a:bodyPr/>
        <a:lstStyle/>
        <a:p>
          <a:r>
            <a:rPr lang="en-US" b="1" dirty="0"/>
            <a:t>Promote Generosity</a:t>
          </a:r>
          <a:r>
            <a:rPr lang="en-US" dirty="0"/>
            <a:t>: Support community-driven initiatives, volunteerism and corporate social responsibility to strengthen social bonds</a:t>
          </a:r>
          <a:endParaRPr lang="en-PK" dirty="0"/>
        </a:p>
      </dgm:t>
    </dgm:pt>
    <dgm:pt modelId="{48E2FE34-E108-4B11-8A88-61001486E33F}" type="parTrans" cxnId="{FD8AFB33-C57B-4594-BCEF-14A9BA3D415B}">
      <dgm:prSet/>
      <dgm:spPr/>
      <dgm:t>
        <a:bodyPr/>
        <a:lstStyle/>
        <a:p>
          <a:endParaRPr lang="en-PK"/>
        </a:p>
      </dgm:t>
    </dgm:pt>
    <dgm:pt modelId="{CF8C0D48-8CB6-467F-BDBF-E1DE934FCE80}" type="sibTrans" cxnId="{FD8AFB33-C57B-4594-BCEF-14A9BA3D415B}">
      <dgm:prSet/>
      <dgm:spPr/>
      <dgm:t>
        <a:bodyPr/>
        <a:lstStyle/>
        <a:p>
          <a:endParaRPr lang="en-PK"/>
        </a:p>
      </dgm:t>
    </dgm:pt>
    <dgm:pt modelId="{7102988C-3EFB-4E11-8BD3-75ADD61661BB}" type="pres">
      <dgm:prSet presAssocID="{EE544972-ED3E-4C54-8F5A-41905CB486C9}" presName="diagram" presStyleCnt="0">
        <dgm:presLayoutVars>
          <dgm:dir/>
          <dgm:resizeHandles val="exact"/>
        </dgm:presLayoutVars>
      </dgm:prSet>
      <dgm:spPr/>
    </dgm:pt>
    <dgm:pt modelId="{70C1349D-4207-4AA7-A656-679B316F4EDB}" type="pres">
      <dgm:prSet presAssocID="{6F53A31A-32FD-4A85-80C4-3DD5F86C0D12}" presName="node" presStyleLbl="node1" presStyleIdx="0" presStyleCnt="5">
        <dgm:presLayoutVars>
          <dgm:bulletEnabled val="1"/>
        </dgm:presLayoutVars>
      </dgm:prSet>
      <dgm:spPr/>
    </dgm:pt>
    <dgm:pt modelId="{32F41FAA-43E3-4084-8BB8-BA14A480EF34}" type="pres">
      <dgm:prSet presAssocID="{126FAC07-5B92-4114-9E02-A2773187308B}" presName="sibTrans" presStyleCnt="0"/>
      <dgm:spPr/>
    </dgm:pt>
    <dgm:pt modelId="{6CAF6D3A-E167-471F-BD02-82063CC09218}" type="pres">
      <dgm:prSet presAssocID="{361B775E-4B87-4CE8-98B6-1813D835291B}" presName="node" presStyleLbl="node1" presStyleIdx="1" presStyleCnt="5">
        <dgm:presLayoutVars>
          <dgm:bulletEnabled val="1"/>
        </dgm:presLayoutVars>
      </dgm:prSet>
      <dgm:spPr/>
    </dgm:pt>
    <dgm:pt modelId="{A05941FD-5B95-4FBF-848C-CFF789996A80}" type="pres">
      <dgm:prSet presAssocID="{FE5C87C0-C9A4-4A9C-B7E3-28ED9F8FE45A}" presName="sibTrans" presStyleCnt="0"/>
      <dgm:spPr/>
    </dgm:pt>
    <dgm:pt modelId="{D442B509-8161-4180-886C-ACEA529B512E}" type="pres">
      <dgm:prSet presAssocID="{09A211C2-60A4-4C88-B47E-BAF6214D53E7}" presName="node" presStyleLbl="node1" presStyleIdx="2" presStyleCnt="5">
        <dgm:presLayoutVars>
          <dgm:bulletEnabled val="1"/>
        </dgm:presLayoutVars>
      </dgm:prSet>
      <dgm:spPr/>
    </dgm:pt>
    <dgm:pt modelId="{D0311AD6-E67C-4C08-B356-BF177FCFA252}" type="pres">
      <dgm:prSet presAssocID="{737CFE31-CA83-416E-B16C-DB3F43F93B56}" presName="sibTrans" presStyleCnt="0"/>
      <dgm:spPr/>
    </dgm:pt>
    <dgm:pt modelId="{D644A5A1-4D57-4EB2-AF28-7673C04A0341}" type="pres">
      <dgm:prSet presAssocID="{8FD0A4E5-1207-424C-9607-14341D657AA1}" presName="node" presStyleLbl="node1" presStyleIdx="3" presStyleCnt="5">
        <dgm:presLayoutVars>
          <dgm:bulletEnabled val="1"/>
        </dgm:presLayoutVars>
      </dgm:prSet>
      <dgm:spPr/>
    </dgm:pt>
    <dgm:pt modelId="{5F54EF74-1169-4986-B9BA-BB070C412132}" type="pres">
      <dgm:prSet presAssocID="{5A43A08F-83D8-4348-A496-FCD9139DD49A}" presName="sibTrans" presStyleCnt="0"/>
      <dgm:spPr/>
    </dgm:pt>
    <dgm:pt modelId="{1B1B352C-A326-4C23-982C-3DA29E69D218}" type="pres">
      <dgm:prSet presAssocID="{39CC3601-0025-4D76-8815-5C43EC7C054D}" presName="node" presStyleLbl="node1" presStyleIdx="4" presStyleCnt="5">
        <dgm:presLayoutVars>
          <dgm:bulletEnabled val="1"/>
        </dgm:presLayoutVars>
      </dgm:prSet>
      <dgm:spPr/>
    </dgm:pt>
  </dgm:ptLst>
  <dgm:cxnLst>
    <dgm:cxn modelId="{77AF560C-C48B-499F-8EDC-6DF194AAFA56}" srcId="{EE544972-ED3E-4C54-8F5A-41905CB486C9}" destId="{8FD0A4E5-1207-424C-9607-14341D657AA1}" srcOrd="3" destOrd="0" parTransId="{BEDC0C1B-32C3-4522-8CD4-B86409F03C2F}" sibTransId="{5A43A08F-83D8-4348-A496-FCD9139DD49A}"/>
    <dgm:cxn modelId="{C30CE30F-CE5B-4B06-B5F7-B7E94DED04A8}" type="presOf" srcId="{39CC3601-0025-4D76-8815-5C43EC7C054D}" destId="{1B1B352C-A326-4C23-982C-3DA29E69D218}" srcOrd="0" destOrd="0" presId="urn:microsoft.com/office/officeart/2005/8/layout/default"/>
    <dgm:cxn modelId="{9E77AD19-4C0D-458E-9E4A-FCD2B326F657}" type="presOf" srcId="{8FD0A4E5-1207-424C-9607-14341D657AA1}" destId="{D644A5A1-4D57-4EB2-AF28-7673C04A0341}" srcOrd="0" destOrd="0" presId="urn:microsoft.com/office/officeart/2005/8/layout/default"/>
    <dgm:cxn modelId="{3A277D20-DC67-4294-88CC-D3B240AEE61A}" type="presOf" srcId="{6F53A31A-32FD-4A85-80C4-3DD5F86C0D12}" destId="{70C1349D-4207-4AA7-A656-679B316F4EDB}" srcOrd="0" destOrd="0" presId="urn:microsoft.com/office/officeart/2005/8/layout/default"/>
    <dgm:cxn modelId="{FD8AFB33-C57B-4594-BCEF-14A9BA3D415B}" srcId="{EE544972-ED3E-4C54-8F5A-41905CB486C9}" destId="{39CC3601-0025-4D76-8815-5C43EC7C054D}" srcOrd="4" destOrd="0" parTransId="{48E2FE34-E108-4B11-8A88-61001486E33F}" sibTransId="{CF8C0D48-8CB6-467F-BDBF-E1DE934FCE80}"/>
    <dgm:cxn modelId="{C75F2535-3F0A-46D7-85F0-5D70BA1310A5}" type="presOf" srcId="{361B775E-4B87-4CE8-98B6-1813D835291B}" destId="{6CAF6D3A-E167-471F-BD02-82063CC09218}" srcOrd="0" destOrd="0" presId="urn:microsoft.com/office/officeart/2005/8/layout/default"/>
    <dgm:cxn modelId="{41DF8351-51AE-49A6-A285-881618865E7E}" srcId="{EE544972-ED3E-4C54-8F5A-41905CB486C9}" destId="{361B775E-4B87-4CE8-98B6-1813D835291B}" srcOrd="1" destOrd="0" parTransId="{68FB7A51-69FC-46AE-AC47-DA7C21524D8A}" sibTransId="{FE5C87C0-C9A4-4A9C-B7E3-28ED9F8FE45A}"/>
    <dgm:cxn modelId="{C000BEA2-077F-4D5D-85BC-3EF562745DA9}" srcId="{EE544972-ED3E-4C54-8F5A-41905CB486C9}" destId="{6F53A31A-32FD-4A85-80C4-3DD5F86C0D12}" srcOrd="0" destOrd="0" parTransId="{E5A1AE49-382C-40EE-BB1C-FB81D7F13849}" sibTransId="{126FAC07-5B92-4114-9E02-A2773187308B}"/>
    <dgm:cxn modelId="{B3CC95C0-BB61-41F5-9CAB-19A382A5D9B7}" type="presOf" srcId="{EE544972-ED3E-4C54-8F5A-41905CB486C9}" destId="{7102988C-3EFB-4E11-8BD3-75ADD61661BB}" srcOrd="0" destOrd="0" presId="urn:microsoft.com/office/officeart/2005/8/layout/default"/>
    <dgm:cxn modelId="{97DC18CE-D0E8-4175-8CD7-0E78C3EB3AC7}" type="presOf" srcId="{09A211C2-60A4-4C88-B47E-BAF6214D53E7}" destId="{D442B509-8161-4180-886C-ACEA529B512E}" srcOrd="0" destOrd="0" presId="urn:microsoft.com/office/officeart/2005/8/layout/default"/>
    <dgm:cxn modelId="{F0B798FF-C269-4B06-9AF1-CDE4176CB36A}" srcId="{EE544972-ED3E-4C54-8F5A-41905CB486C9}" destId="{09A211C2-60A4-4C88-B47E-BAF6214D53E7}" srcOrd="2" destOrd="0" parTransId="{2101A00A-9251-4295-BCCA-4ED494A001D0}" sibTransId="{737CFE31-CA83-416E-B16C-DB3F43F93B56}"/>
    <dgm:cxn modelId="{B37713A0-FA61-4172-B6C3-E8F3BBF143C4}" type="presParOf" srcId="{7102988C-3EFB-4E11-8BD3-75ADD61661BB}" destId="{70C1349D-4207-4AA7-A656-679B316F4EDB}" srcOrd="0" destOrd="0" presId="urn:microsoft.com/office/officeart/2005/8/layout/default"/>
    <dgm:cxn modelId="{6CA885F7-8916-45B9-A973-CB578EEEA457}" type="presParOf" srcId="{7102988C-3EFB-4E11-8BD3-75ADD61661BB}" destId="{32F41FAA-43E3-4084-8BB8-BA14A480EF34}" srcOrd="1" destOrd="0" presId="urn:microsoft.com/office/officeart/2005/8/layout/default"/>
    <dgm:cxn modelId="{4F359A6B-6E57-43B0-8F53-449F9AA67314}" type="presParOf" srcId="{7102988C-3EFB-4E11-8BD3-75ADD61661BB}" destId="{6CAF6D3A-E167-471F-BD02-82063CC09218}" srcOrd="2" destOrd="0" presId="urn:microsoft.com/office/officeart/2005/8/layout/default"/>
    <dgm:cxn modelId="{956FC0F6-1771-4CA3-A4AB-69AA2FFF351F}" type="presParOf" srcId="{7102988C-3EFB-4E11-8BD3-75ADD61661BB}" destId="{A05941FD-5B95-4FBF-848C-CFF789996A80}" srcOrd="3" destOrd="0" presId="urn:microsoft.com/office/officeart/2005/8/layout/default"/>
    <dgm:cxn modelId="{0461B02B-99C5-4431-BED7-743991655B36}" type="presParOf" srcId="{7102988C-3EFB-4E11-8BD3-75ADD61661BB}" destId="{D442B509-8161-4180-886C-ACEA529B512E}" srcOrd="4" destOrd="0" presId="urn:microsoft.com/office/officeart/2005/8/layout/default"/>
    <dgm:cxn modelId="{54A67D7D-65ED-4D87-976E-428620710561}" type="presParOf" srcId="{7102988C-3EFB-4E11-8BD3-75ADD61661BB}" destId="{D0311AD6-E67C-4C08-B356-BF177FCFA252}" srcOrd="5" destOrd="0" presId="urn:microsoft.com/office/officeart/2005/8/layout/default"/>
    <dgm:cxn modelId="{17034060-3834-4D5E-8F65-F1A02DDFF2E3}" type="presParOf" srcId="{7102988C-3EFB-4E11-8BD3-75ADD61661BB}" destId="{D644A5A1-4D57-4EB2-AF28-7673C04A0341}" srcOrd="6" destOrd="0" presId="urn:microsoft.com/office/officeart/2005/8/layout/default"/>
    <dgm:cxn modelId="{1BC4B7C5-886E-4710-92B2-4A565B668E4C}" type="presParOf" srcId="{7102988C-3EFB-4E11-8BD3-75ADD61661BB}" destId="{5F54EF74-1169-4986-B9BA-BB070C412132}" srcOrd="7" destOrd="0" presId="urn:microsoft.com/office/officeart/2005/8/layout/default"/>
    <dgm:cxn modelId="{9A7916E1-56D0-42A2-847C-5232D8507501}" type="presParOf" srcId="{7102988C-3EFB-4E11-8BD3-75ADD61661BB}" destId="{1B1B352C-A326-4C23-982C-3DA29E69D21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3EC5BB-E715-4A46-88BA-6E2CCBA2061E}">
      <dsp:nvSpPr>
        <dsp:cNvPr id="0" name=""/>
        <dsp:cNvSpPr/>
      </dsp:nvSpPr>
      <dsp:spPr>
        <a:xfrm>
          <a:off x="0" y="754008"/>
          <a:ext cx="487499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1BE6A-27D1-4766-BE43-3381B02BB746}">
      <dsp:nvSpPr>
        <dsp:cNvPr id="0" name=""/>
        <dsp:cNvSpPr/>
      </dsp:nvSpPr>
      <dsp:spPr>
        <a:xfrm>
          <a:off x="243749" y="517848"/>
          <a:ext cx="3412499" cy="472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984" tIns="0" rIns="12898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 Cleaning</a:t>
          </a:r>
          <a:endParaRPr lang="en-PK" sz="1600" kern="1200" dirty="0"/>
        </a:p>
      </dsp:txBody>
      <dsp:txXfrm>
        <a:off x="266806" y="540905"/>
        <a:ext cx="3366385" cy="426206"/>
      </dsp:txXfrm>
    </dsp:sp>
    <dsp:sp modelId="{0B64A6BD-C6A3-479F-A13D-346F6D307A55}">
      <dsp:nvSpPr>
        <dsp:cNvPr id="0" name=""/>
        <dsp:cNvSpPr/>
      </dsp:nvSpPr>
      <dsp:spPr>
        <a:xfrm>
          <a:off x="0" y="1479768"/>
          <a:ext cx="487499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381331"/>
              <a:satOff val="105"/>
              <a:lumOff val="-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543954-E69D-41F1-A900-8D7F301367D2}">
      <dsp:nvSpPr>
        <dsp:cNvPr id="0" name=""/>
        <dsp:cNvSpPr/>
      </dsp:nvSpPr>
      <dsp:spPr>
        <a:xfrm>
          <a:off x="243749" y="1243608"/>
          <a:ext cx="3412499" cy="472320"/>
        </a:xfrm>
        <a:prstGeom prst="roundRect">
          <a:avLst/>
        </a:prstGeom>
        <a:solidFill>
          <a:schemeClr val="accent5">
            <a:hueOff val="381331"/>
            <a:satOff val="105"/>
            <a:lumOff val="-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984" tIns="0" rIns="12898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Understanding the Issue</a:t>
          </a:r>
          <a:endParaRPr lang="en-PK" sz="1600" kern="1200" dirty="0"/>
        </a:p>
      </dsp:txBody>
      <dsp:txXfrm>
        <a:off x="266806" y="1266665"/>
        <a:ext cx="3366385" cy="426206"/>
      </dsp:txXfrm>
    </dsp:sp>
    <dsp:sp modelId="{01104441-AF71-43BA-8D09-4FA34D35AE49}">
      <dsp:nvSpPr>
        <dsp:cNvPr id="0" name=""/>
        <dsp:cNvSpPr/>
      </dsp:nvSpPr>
      <dsp:spPr>
        <a:xfrm>
          <a:off x="0" y="2205528"/>
          <a:ext cx="487499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762663"/>
              <a:satOff val="209"/>
              <a:lumOff val="-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AA575C-8BB4-4282-B96D-AD82BE542C34}">
      <dsp:nvSpPr>
        <dsp:cNvPr id="0" name=""/>
        <dsp:cNvSpPr/>
      </dsp:nvSpPr>
      <dsp:spPr>
        <a:xfrm>
          <a:off x="243749" y="1969368"/>
          <a:ext cx="3412499" cy="472320"/>
        </a:xfrm>
        <a:prstGeom prst="roundRect">
          <a:avLst/>
        </a:prstGeom>
        <a:solidFill>
          <a:schemeClr val="accent5">
            <a:hueOff val="762663"/>
            <a:satOff val="209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984" tIns="0" rIns="12898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Analysis (Descriptive &amp; Bivariate)</a:t>
          </a:r>
          <a:endParaRPr lang="en-PK" sz="1600" kern="1200" dirty="0"/>
        </a:p>
      </dsp:txBody>
      <dsp:txXfrm>
        <a:off x="266806" y="1992425"/>
        <a:ext cx="3366385" cy="426206"/>
      </dsp:txXfrm>
    </dsp:sp>
    <dsp:sp modelId="{7A953F7C-BE00-47F8-889B-62D2A5085155}">
      <dsp:nvSpPr>
        <dsp:cNvPr id="0" name=""/>
        <dsp:cNvSpPr/>
      </dsp:nvSpPr>
      <dsp:spPr>
        <a:xfrm>
          <a:off x="0" y="2931288"/>
          <a:ext cx="487499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143994"/>
              <a:satOff val="314"/>
              <a:lumOff val="-5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8E3A15-B050-4BBD-A2DB-14244E8834CD}">
      <dsp:nvSpPr>
        <dsp:cNvPr id="0" name=""/>
        <dsp:cNvSpPr/>
      </dsp:nvSpPr>
      <dsp:spPr>
        <a:xfrm>
          <a:off x="243749" y="2695128"/>
          <a:ext cx="3412499" cy="472320"/>
        </a:xfrm>
        <a:prstGeom prst="roundRect">
          <a:avLst/>
        </a:prstGeom>
        <a:solidFill>
          <a:schemeClr val="accent5">
            <a:hueOff val="1143994"/>
            <a:satOff val="314"/>
            <a:lumOff val="-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984" tIns="0" rIns="12898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Conclusion</a:t>
          </a:r>
          <a:endParaRPr lang="en-PK" sz="1600" kern="1200" dirty="0"/>
        </a:p>
      </dsp:txBody>
      <dsp:txXfrm>
        <a:off x="266806" y="2718185"/>
        <a:ext cx="3366385" cy="426206"/>
      </dsp:txXfrm>
    </dsp:sp>
    <dsp:sp modelId="{AAE1464A-5F09-47DE-A1FA-34A2CE3E4530}">
      <dsp:nvSpPr>
        <dsp:cNvPr id="0" name=""/>
        <dsp:cNvSpPr/>
      </dsp:nvSpPr>
      <dsp:spPr>
        <a:xfrm>
          <a:off x="0" y="3657048"/>
          <a:ext cx="4874999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525325"/>
              <a:satOff val="418"/>
              <a:lumOff val="-70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27CCA-31CF-483A-9CE8-2D56EC39A3EF}">
      <dsp:nvSpPr>
        <dsp:cNvPr id="0" name=""/>
        <dsp:cNvSpPr/>
      </dsp:nvSpPr>
      <dsp:spPr>
        <a:xfrm>
          <a:off x="243749" y="3420888"/>
          <a:ext cx="3412499" cy="472320"/>
        </a:xfrm>
        <a:prstGeom prst="roundRect">
          <a:avLst/>
        </a:prstGeom>
        <a:solidFill>
          <a:schemeClr val="accent5">
            <a:hueOff val="1525325"/>
            <a:satOff val="418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984" tIns="0" rIns="12898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Recommendation</a:t>
          </a:r>
          <a:endParaRPr lang="en-PK" sz="1600" kern="1200" dirty="0"/>
        </a:p>
      </dsp:txBody>
      <dsp:txXfrm>
        <a:off x="266806" y="3443945"/>
        <a:ext cx="3366385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1349D-4207-4AA7-A656-679B316F4EDB}">
      <dsp:nvSpPr>
        <dsp:cNvPr id="0" name=""/>
        <dsp:cNvSpPr/>
      </dsp:nvSpPr>
      <dsp:spPr>
        <a:xfrm>
          <a:off x="0" y="529383"/>
          <a:ext cx="2304142" cy="138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Improve Healthcare</a:t>
          </a:r>
          <a:r>
            <a:rPr lang="en-US" sz="1300" kern="1200" dirty="0"/>
            <a:t>: Invest in healthcare facilities focusing on mental &amp; preventive care to boost life expectancy &amp; resilience</a:t>
          </a:r>
          <a:endParaRPr lang="en-PK" sz="1300" kern="1200" dirty="0"/>
        </a:p>
      </dsp:txBody>
      <dsp:txXfrm>
        <a:off x="0" y="529383"/>
        <a:ext cx="2304142" cy="1382485"/>
      </dsp:txXfrm>
    </dsp:sp>
    <dsp:sp modelId="{6CAF6D3A-E167-471F-BD02-82063CC09218}">
      <dsp:nvSpPr>
        <dsp:cNvPr id="0" name=""/>
        <dsp:cNvSpPr/>
      </dsp:nvSpPr>
      <dsp:spPr>
        <a:xfrm>
          <a:off x="2534557" y="529383"/>
          <a:ext cx="2304142" cy="138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Strengthen Social Support</a:t>
          </a:r>
          <a:r>
            <a:rPr lang="en-US" sz="1300" kern="1200" dirty="0"/>
            <a:t>: Encourage community programs and welfare policies to enhance trust &amp; reliance within societies </a:t>
          </a:r>
          <a:endParaRPr lang="en-PK" sz="1300" kern="1200" dirty="0"/>
        </a:p>
      </dsp:txBody>
      <dsp:txXfrm>
        <a:off x="2534557" y="529383"/>
        <a:ext cx="2304142" cy="1382485"/>
      </dsp:txXfrm>
    </dsp:sp>
    <dsp:sp modelId="{D442B509-8161-4180-886C-ACEA529B512E}">
      <dsp:nvSpPr>
        <dsp:cNvPr id="0" name=""/>
        <dsp:cNvSpPr/>
      </dsp:nvSpPr>
      <dsp:spPr>
        <a:xfrm>
          <a:off x="5069114" y="529383"/>
          <a:ext cx="2304142" cy="138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Enhance Economic Stability</a:t>
          </a:r>
          <a:r>
            <a:rPr lang="en-US" sz="1300" kern="1200" dirty="0"/>
            <a:t>: Create opportunities for sustainable growth through job opportunities, fair wages and entrepreneurship support</a:t>
          </a:r>
          <a:endParaRPr lang="en-PK" sz="1300" kern="1200" dirty="0"/>
        </a:p>
      </dsp:txBody>
      <dsp:txXfrm>
        <a:off x="5069114" y="529383"/>
        <a:ext cx="2304142" cy="1382485"/>
      </dsp:txXfrm>
    </dsp:sp>
    <dsp:sp modelId="{D644A5A1-4D57-4EB2-AF28-7673C04A0341}">
      <dsp:nvSpPr>
        <dsp:cNvPr id="0" name=""/>
        <dsp:cNvSpPr/>
      </dsp:nvSpPr>
      <dsp:spPr>
        <a:xfrm>
          <a:off x="1267278" y="2142283"/>
          <a:ext cx="2304142" cy="138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Build Governance Trust</a:t>
          </a:r>
          <a:r>
            <a:rPr lang="en-US" sz="1300" kern="1200" dirty="0"/>
            <a:t>: Foster transparency and combat corruption to improve public confidence in institutions</a:t>
          </a:r>
          <a:endParaRPr lang="en-PK" sz="1300" kern="1200" dirty="0"/>
        </a:p>
      </dsp:txBody>
      <dsp:txXfrm>
        <a:off x="1267278" y="2142283"/>
        <a:ext cx="2304142" cy="1382485"/>
      </dsp:txXfrm>
    </dsp:sp>
    <dsp:sp modelId="{1B1B352C-A326-4C23-982C-3DA29E69D218}">
      <dsp:nvSpPr>
        <dsp:cNvPr id="0" name=""/>
        <dsp:cNvSpPr/>
      </dsp:nvSpPr>
      <dsp:spPr>
        <a:xfrm>
          <a:off x="3801835" y="2142283"/>
          <a:ext cx="2304142" cy="138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Promote Generosity</a:t>
          </a:r>
          <a:r>
            <a:rPr lang="en-US" sz="1300" kern="1200" dirty="0"/>
            <a:t>: Support community-driven initiatives, volunteerism and corporate social responsibility to strengthen social bonds</a:t>
          </a:r>
          <a:endParaRPr lang="en-PK" sz="1300" kern="1200" dirty="0"/>
        </a:p>
      </dsp:txBody>
      <dsp:txXfrm>
        <a:off x="3801835" y="2142283"/>
        <a:ext cx="2304142" cy="1382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9/25/2026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3465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2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5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56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54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0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6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2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19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992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7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9/25/2026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3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orldhappiness.report/faq/" TargetMode="External"/><Relationship Id="rId2" Type="http://schemas.openxmlformats.org/officeDocument/2006/relationships/hyperlink" Target="https://worldhappiness.report/abou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allup.com/analytics/318350/human-development-goals.asp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E1BB9D-FAFF-4C3E-9E44-13F8FBABC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8DDC302-DBEC-4742-B54B-5E9AAFE96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430001" cy="6858000"/>
          </a:xfrm>
          <a:custGeom>
            <a:avLst/>
            <a:gdLst>
              <a:gd name="connsiteX0" fmla="*/ 0 w 11430001"/>
              <a:gd name="connsiteY0" fmla="*/ 0 h 6858000"/>
              <a:gd name="connsiteX1" fmla="*/ 5330522 w 11430001"/>
              <a:gd name="connsiteY1" fmla="*/ 0 h 6858000"/>
              <a:gd name="connsiteX2" fmla="*/ 5334002 w 11430001"/>
              <a:gd name="connsiteY2" fmla="*/ 0 h 6858000"/>
              <a:gd name="connsiteX3" fmla="*/ 5334002 w 11430001"/>
              <a:gd name="connsiteY3" fmla="*/ 762270 h 6858000"/>
              <a:gd name="connsiteX4" fmla="*/ 11430001 w 11430001"/>
              <a:gd name="connsiteY4" fmla="*/ 762270 h 6858000"/>
              <a:gd name="connsiteX5" fmla="*/ 11430001 w 11430001"/>
              <a:gd name="connsiteY5" fmla="*/ 6094807 h 6858000"/>
              <a:gd name="connsiteX6" fmla="*/ 5330522 w 11430001"/>
              <a:gd name="connsiteY6" fmla="*/ 6094807 h 6858000"/>
              <a:gd name="connsiteX7" fmla="*/ 5330522 w 11430001"/>
              <a:gd name="connsiteY7" fmla="*/ 6858000 h 6858000"/>
              <a:gd name="connsiteX8" fmla="*/ 0 w 11430001"/>
              <a:gd name="connsiteY8" fmla="*/ 6858000 h 6858000"/>
              <a:gd name="connsiteX9" fmla="*/ 0 w 11430001"/>
              <a:gd name="connsiteY9" fmla="*/ 609480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30001" h="6858000">
                <a:moveTo>
                  <a:pt x="0" y="0"/>
                </a:moveTo>
                <a:lnTo>
                  <a:pt x="5330522" y="0"/>
                </a:lnTo>
                <a:lnTo>
                  <a:pt x="5334002" y="0"/>
                </a:lnTo>
                <a:lnTo>
                  <a:pt x="5334002" y="762270"/>
                </a:lnTo>
                <a:lnTo>
                  <a:pt x="11430001" y="762270"/>
                </a:lnTo>
                <a:lnTo>
                  <a:pt x="11430001" y="6094807"/>
                </a:lnTo>
                <a:lnTo>
                  <a:pt x="5330522" y="6094807"/>
                </a:lnTo>
                <a:lnTo>
                  <a:pt x="5330522" y="6858000"/>
                </a:lnTo>
                <a:lnTo>
                  <a:pt x="0" y="6858000"/>
                </a:lnTo>
                <a:lnTo>
                  <a:pt x="0" y="6094807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001EC-5B7C-FB20-17C9-1DEE86B1BA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2616" y="1517904"/>
            <a:ext cx="4579288" cy="279694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World Happiness</a:t>
            </a:r>
            <a:br>
              <a:rPr lang="en-US" dirty="0"/>
            </a:br>
            <a:r>
              <a:rPr lang="en-US" dirty="0"/>
              <a:t>Report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A9F35-4370-5E4D-7760-88F279A7E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2616" y="4570807"/>
            <a:ext cx="4579288" cy="942889"/>
          </a:xfrm>
        </p:spPr>
        <p:txBody>
          <a:bodyPr>
            <a:normAutofit/>
          </a:bodyPr>
          <a:lstStyle/>
          <a:p>
            <a:pPr algn="l"/>
            <a:endParaRPr lang="en-PK" dirty="0"/>
          </a:p>
        </p:txBody>
      </p:sp>
      <p:pic>
        <p:nvPicPr>
          <p:cNvPr id="8" name="Picture 7" descr="A group of people standing together&#10;&#10;Description automatically generated">
            <a:extLst>
              <a:ext uri="{FF2B5EF4-FFF2-40B4-BE49-F238E27FC236}">
                <a16:creationId xmlns:a16="http://schemas.microsoft.com/office/drawing/2014/main" id="{E5CFA8A8-E4E1-A043-95D0-F15D69CBE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7" y="1032711"/>
            <a:ext cx="4975458" cy="497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62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9639-07F6-FA24-2CB7-79EBE18AB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55650"/>
            <a:ext cx="3932830" cy="1345115"/>
          </a:xfrm>
        </p:spPr>
        <p:txBody>
          <a:bodyPr>
            <a:normAutofit/>
          </a:bodyPr>
          <a:lstStyle/>
          <a:p>
            <a:r>
              <a:rPr lang="en-US" sz="2600"/>
              <a:t>The Starting Point: Measuring Happiness Worldwide</a:t>
            </a:r>
            <a:endParaRPr lang="en-PK" sz="260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7498517-8E70-F341-A813-6C1D5C70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2207969"/>
            <a:ext cx="3932830" cy="3884983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</a:pPr>
            <a:r>
              <a:rPr lang="en-US" sz="2000" dirty="0"/>
              <a:t>An annual landmark survey first presented in 2012 by in partnership by Gallup &amp; UNSDSA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In response to the global demand for considering happiness &amp; Well being as indicators for societal &amp; economic progress</a:t>
            </a:r>
          </a:p>
          <a:p>
            <a:pPr>
              <a:lnSpc>
                <a:spcPct val="95000"/>
              </a:lnSpc>
            </a:pPr>
            <a:r>
              <a:rPr lang="en-US" sz="2000" dirty="0"/>
              <a:t>Inspired from the concept of “Gross National Happiness” in Bhutan </a:t>
            </a:r>
            <a:endParaRPr lang="en-PK" sz="2000" dirty="0"/>
          </a:p>
        </p:txBody>
      </p:sp>
      <p:pic>
        <p:nvPicPr>
          <p:cNvPr id="8" name="Picture 7" descr="A planet with a face drawn on it">
            <a:extLst>
              <a:ext uri="{FF2B5EF4-FFF2-40B4-BE49-F238E27FC236}">
                <a16:creationId xmlns:a16="http://schemas.microsoft.com/office/drawing/2014/main" id="{122B94A0-1210-180C-10E0-10B3ED6A0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464" y="1731424"/>
            <a:ext cx="6035826" cy="339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44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2165-9CE0-15DE-53E2-46F6E5E3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152" y="920744"/>
            <a:ext cx="9144000" cy="1344168"/>
          </a:xfrm>
        </p:spPr>
        <p:txBody>
          <a:bodyPr/>
          <a:lstStyle/>
          <a:p>
            <a:pPr algn="ctr"/>
            <a:r>
              <a:rPr lang="en-US" dirty="0"/>
              <a:t>Key Indicators for Happiness</a:t>
            </a:r>
            <a:endParaRPr lang="en-PK" dirty="0"/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40159E34-37A7-7FDB-66BD-808580421BA1}"/>
              </a:ext>
            </a:extLst>
          </p:cNvPr>
          <p:cNvSpPr/>
          <p:nvPr/>
        </p:nvSpPr>
        <p:spPr>
          <a:xfrm>
            <a:off x="1031059" y="1768488"/>
            <a:ext cx="1236846" cy="992847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GDP</a:t>
            </a:r>
            <a:endParaRPr lang="en-PK" sz="1400" b="1" dirty="0"/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0C39301E-8D7F-ECA5-EB12-53A62169B03C}"/>
              </a:ext>
            </a:extLst>
          </p:cNvPr>
          <p:cNvSpPr/>
          <p:nvPr/>
        </p:nvSpPr>
        <p:spPr>
          <a:xfrm>
            <a:off x="1031059" y="3429000"/>
            <a:ext cx="1236846" cy="992847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Social</a:t>
            </a:r>
            <a:r>
              <a:rPr lang="en-US" sz="1100" dirty="0"/>
              <a:t> </a:t>
            </a:r>
            <a:r>
              <a:rPr lang="en-US" sz="1100" b="1" dirty="0"/>
              <a:t>Support</a:t>
            </a:r>
            <a:endParaRPr lang="en-PK" sz="1100" b="1" dirty="0"/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33D481F4-AA20-A7A7-7E46-8092C6C04B9D}"/>
              </a:ext>
            </a:extLst>
          </p:cNvPr>
          <p:cNvSpPr/>
          <p:nvPr/>
        </p:nvSpPr>
        <p:spPr>
          <a:xfrm>
            <a:off x="9924095" y="3429000"/>
            <a:ext cx="1236846" cy="992847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Corruption</a:t>
            </a:r>
            <a:endParaRPr lang="en-PK" b="1" dirty="0"/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1B3974B0-6CB0-7FD4-3810-7969A7A8117C}"/>
              </a:ext>
            </a:extLst>
          </p:cNvPr>
          <p:cNvSpPr/>
          <p:nvPr/>
        </p:nvSpPr>
        <p:spPr>
          <a:xfrm>
            <a:off x="9891673" y="1768488"/>
            <a:ext cx="1236846" cy="992847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Generosity</a:t>
            </a:r>
            <a:endParaRPr lang="en-PK" b="1" dirty="0"/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9CF07D37-32D4-C3C4-A8C4-71CA45C7B43C}"/>
              </a:ext>
            </a:extLst>
          </p:cNvPr>
          <p:cNvSpPr/>
          <p:nvPr/>
        </p:nvSpPr>
        <p:spPr>
          <a:xfrm>
            <a:off x="9924095" y="4981168"/>
            <a:ext cx="1236846" cy="992847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Freedom</a:t>
            </a:r>
            <a:endParaRPr lang="en-PK" b="1" dirty="0"/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169E607C-45B7-B9E9-22A3-1DF4845C5FE8}"/>
              </a:ext>
            </a:extLst>
          </p:cNvPr>
          <p:cNvSpPr/>
          <p:nvPr/>
        </p:nvSpPr>
        <p:spPr>
          <a:xfrm>
            <a:off x="1031059" y="4981168"/>
            <a:ext cx="1236846" cy="992847"/>
          </a:xfrm>
          <a:prstGeom prst="pentago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Health/Life Expectancy</a:t>
            </a:r>
            <a:endParaRPr lang="en-PK" sz="800" b="1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F37A211F-E512-855B-D868-104313F46A9B}"/>
              </a:ext>
            </a:extLst>
          </p:cNvPr>
          <p:cNvSpPr/>
          <p:nvPr/>
        </p:nvSpPr>
        <p:spPr>
          <a:xfrm>
            <a:off x="2669308" y="1768488"/>
            <a:ext cx="2512291" cy="992847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5DB0431D-02A4-2430-B27F-456CE9048376}"/>
              </a:ext>
            </a:extLst>
          </p:cNvPr>
          <p:cNvSpPr/>
          <p:nvPr/>
        </p:nvSpPr>
        <p:spPr>
          <a:xfrm>
            <a:off x="2669309" y="3429000"/>
            <a:ext cx="2512291" cy="992847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 availability of strong positive relationships among communities</a:t>
            </a:r>
            <a:endParaRPr lang="en-PK" sz="1600" dirty="0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55A419E5-60BD-DFD1-2F34-343EB4DDF084}"/>
              </a:ext>
            </a:extLst>
          </p:cNvPr>
          <p:cNvSpPr/>
          <p:nvPr/>
        </p:nvSpPr>
        <p:spPr>
          <a:xfrm>
            <a:off x="2669308" y="4981168"/>
            <a:ext cx="2512291" cy="992847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 quality of Mental &amp; Physical health in addition to the access to healthcare</a:t>
            </a:r>
            <a:endParaRPr lang="en-PK" sz="1600" dirty="0"/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2A4683DB-C15C-0B11-EE4F-920D2FF7A62E}"/>
              </a:ext>
            </a:extLst>
          </p:cNvPr>
          <p:cNvSpPr/>
          <p:nvPr/>
        </p:nvSpPr>
        <p:spPr>
          <a:xfrm>
            <a:off x="2669309" y="1768488"/>
            <a:ext cx="2512291" cy="992847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 measure of security in terms of income/employment &amp; resources</a:t>
            </a:r>
            <a:endParaRPr lang="en-PK" sz="1600" dirty="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00687A4A-1720-378D-95FA-459ADC02A2BE}"/>
              </a:ext>
            </a:extLst>
          </p:cNvPr>
          <p:cNvSpPr/>
          <p:nvPr/>
        </p:nvSpPr>
        <p:spPr>
          <a:xfrm>
            <a:off x="7010400" y="3428999"/>
            <a:ext cx="2512291" cy="992847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Measures the integrity of institutions and the trust people have in them</a:t>
            </a:r>
            <a:endParaRPr lang="en-PK" sz="1600" dirty="0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2A130D01-FB34-4BF7-9022-6CABA4DD6956}"/>
              </a:ext>
            </a:extLst>
          </p:cNvPr>
          <p:cNvSpPr/>
          <p:nvPr/>
        </p:nvSpPr>
        <p:spPr>
          <a:xfrm>
            <a:off x="7010400" y="1768487"/>
            <a:ext cx="2512291" cy="992847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 measure for behavior like volunteering &amp; charity    in the society      </a:t>
            </a:r>
            <a:r>
              <a:rPr lang="en-US" dirty="0"/>
              <a:t>	</a:t>
            </a:r>
            <a:endParaRPr lang="en-PK" dirty="0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3BC21078-F6C4-B349-CF20-9788879A216B}"/>
              </a:ext>
            </a:extLst>
          </p:cNvPr>
          <p:cNvSpPr/>
          <p:nvPr/>
        </p:nvSpPr>
        <p:spPr>
          <a:xfrm>
            <a:off x="7010399" y="4981168"/>
            <a:ext cx="2512291" cy="992847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 freedom to make life choices and the sense of empowerment for the people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1146575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AB65A3-2D51-F786-1F5A-68B932A15A57}"/>
              </a:ext>
            </a:extLst>
          </p:cNvPr>
          <p:cNvSpPr/>
          <p:nvPr/>
        </p:nvSpPr>
        <p:spPr>
          <a:xfrm>
            <a:off x="3045552" y="1057844"/>
            <a:ext cx="2276375" cy="104434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Dystopia</a:t>
            </a:r>
            <a:endParaRPr lang="en-PK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BC4CA0-46EF-BF9B-1CD9-318348A722D3}"/>
              </a:ext>
            </a:extLst>
          </p:cNvPr>
          <p:cNvSpPr/>
          <p:nvPr/>
        </p:nvSpPr>
        <p:spPr>
          <a:xfrm>
            <a:off x="1159024" y="2560782"/>
            <a:ext cx="1953491" cy="86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Imaginary Society </a:t>
            </a:r>
            <a:endParaRPr lang="en-PK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AEC14A-E494-49DF-7B2E-2CA65067CDC1}"/>
              </a:ext>
            </a:extLst>
          </p:cNvPr>
          <p:cNvSpPr/>
          <p:nvPr/>
        </p:nvSpPr>
        <p:spPr>
          <a:xfrm>
            <a:off x="1225988" y="3599016"/>
            <a:ext cx="1819564" cy="822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Oppression &amp; Control</a:t>
            </a:r>
            <a:endParaRPr lang="en-PK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2DB641-7D26-9C7E-938A-E96DA7538798}"/>
              </a:ext>
            </a:extLst>
          </p:cNvPr>
          <p:cNvSpPr/>
          <p:nvPr/>
        </p:nvSpPr>
        <p:spPr>
          <a:xfrm>
            <a:off x="1225988" y="4624252"/>
            <a:ext cx="1685636" cy="822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Lack of Personal Freedom</a:t>
            </a:r>
            <a:endParaRPr lang="en-PK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FA26C5-B117-B5F4-1171-776A0B90E011}"/>
              </a:ext>
            </a:extLst>
          </p:cNvPr>
          <p:cNvSpPr/>
          <p:nvPr/>
        </p:nvSpPr>
        <p:spPr>
          <a:xfrm>
            <a:off x="6777568" y="1057844"/>
            <a:ext cx="2276375" cy="104434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Residuals</a:t>
            </a:r>
            <a:endParaRPr lang="en-PK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BC60639-C577-C965-1BF5-C75C3DB8E90C}"/>
              </a:ext>
            </a:extLst>
          </p:cNvPr>
          <p:cNvSpPr/>
          <p:nvPr/>
        </p:nvSpPr>
        <p:spPr>
          <a:xfrm>
            <a:off x="8986980" y="2560782"/>
            <a:ext cx="1953491" cy="86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Unexplained Components</a:t>
            </a:r>
            <a:endParaRPr lang="en-PK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CF21F6-BD0F-5837-49DB-98359E00AF68}"/>
              </a:ext>
            </a:extLst>
          </p:cNvPr>
          <p:cNvSpPr/>
          <p:nvPr/>
        </p:nvSpPr>
        <p:spPr>
          <a:xfrm>
            <a:off x="9053943" y="3594925"/>
            <a:ext cx="1819564" cy="822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 for each Country</a:t>
            </a:r>
            <a:endParaRPr lang="en-PK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6C2B48-0D1D-CF1A-749B-8AC2FCBE0EAE}"/>
              </a:ext>
            </a:extLst>
          </p:cNvPr>
          <p:cNvSpPr/>
          <p:nvPr/>
        </p:nvSpPr>
        <p:spPr>
          <a:xfrm>
            <a:off x="9120907" y="4624252"/>
            <a:ext cx="1685636" cy="822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Over or Under explain each variable</a:t>
            </a:r>
            <a:endParaRPr lang="en-PK" sz="16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E08C8F-5940-384E-DB19-09410D12B65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183740" y="2102185"/>
            <a:ext cx="14967" cy="3225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B67499-C0C6-42B7-646F-9B63C3E026A6}"/>
              </a:ext>
            </a:extLst>
          </p:cNvPr>
          <p:cNvCxnSpPr/>
          <p:nvPr/>
        </p:nvCxnSpPr>
        <p:spPr>
          <a:xfrm flipH="1">
            <a:off x="3271985" y="3004457"/>
            <a:ext cx="9117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AD5AA1-6005-7F00-7825-21EDBC89EB48}"/>
              </a:ext>
            </a:extLst>
          </p:cNvPr>
          <p:cNvCxnSpPr/>
          <p:nvPr/>
        </p:nvCxnSpPr>
        <p:spPr>
          <a:xfrm flipH="1">
            <a:off x="3286952" y="4005943"/>
            <a:ext cx="9117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C98D68-AFA0-DF63-9342-0E6A6BC33D39}"/>
              </a:ext>
            </a:extLst>
          </p:cNvPr>
          <p:cNvCxnSpPr/>
          <p:nvPr/>
        </p:nvCxnSpPr>
        <p:spPr>
          <a:xfrm flipH="1">
            <a:off x="3286952" y="5044751"/>
            <a:ext cx="9117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5DB376A-E942-34EA-3C6E-F128EDFA04C3}"/>
              </a:ext>
            </a:extLst>
          </p:cNvPr>
          <p:cNvCxnSpPr>
            <a:cxnSpLocks/>
          </p:cNvCxnSpPr>
          <p:nvPr/>
        </p:nvCxnSpPr>
        <p:spPr>
          <a:xfrm>
            <a:off x="7960267" y="2102184"/>
            <a:ext cx="14967" cy="3225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48DB5E-4689-7C73-208D-FB42800B2375}"/>
              </a:ext>
            </a:extLst>
          </p:cNvPr>
          <p:cNvCxnSpPr>
            <a:cxnSpLocks/>
          </p:cNvCxnSpPr>
          <p:nvPr/>
        </p:nvCxnSpPr>
        <p:spPr>
          <a:xfrm flipV="1">
            <a:off x="7965164" y="2992582"/>
            <a:ext cx="861595" cy="7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2E1A44E-BE26-94E9-0CBC-F143E61263D3}"/>
              </a:ext>
            </a:extLst>
          </p:cNvPr>
          <p:cNvCxnSpPr>
            <a:cxnSpLocks/>
          </p:cNvCxnSpPr>
          <p:nvPr/>
        </p:nvCxnSpPr>
        <p:spPr>
          <a:xfrm>
            <a:off x="7975234" y="3998168"/>
            <a:ext cx="8923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A627464-8B1F-433B-FE71-2D6256DC13DA}"/>
              </a:ext>
            </a:extLst>
          </p:cNvPr>
          <p:cNvCxnSpPr>
            <a:cxnSpLocks/>
          </p:cNvCxnSpPr>
          <p:nvPr/>
        </p:nvCxnSpPr>
        <p:spPr>
          <a:xfrm flipV="1">
            <a:off x="7975234" y="5035270"/>
            <a:ext cx="892302" cy="9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531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4136905-015B-4510-B514-027CBA846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CD0F97-2E5B-4E84-8544-EB24DED10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B272257-593A-402F-88FA-F1DECD9E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45592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C5C07B-BE99-792A-2E59-CEA967CB7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3" y="1517903"/>
            <a:ext cx="3828185" cy="45780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A73CC3BE-983F-912F-0D6E-1D451C50C2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7365893"/>
              </p:ext>
            </p:extLst>
          </p:nvPr>
        </p:nvGraphicFramePr>
        <p:xfrm>
          <a:off x="5786650" y="1517903"/>
          <a:ext cx="4874999" cy="4578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222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DFFAB7E-4788-405E-A4D8-B6644AE46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F985A2-1334-4D86-97FF-10FE78059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11151DD-A4A6-4DD2-B74D-ECEC523EE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2000" cy="6099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D6012-E0AA-8528-398D-44C0651C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51932"/>
            <a:ext cx="4465093" cy="27971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Top 10</a:t>
            </a:r>
            <a:br>
              <a:rPr lang="en-US" sz="4800" dirty="0"/>
            </a:br>
            <a:r>
              <a:rPr lang="en-US" sz="4800" dirty="0"/>
              <a:t>Happiest Countries</a:t>
            </a:r>
          </a:p>
        </p:txBody>
      </p:sp>
      <p:pic>
        <p:nvPicPr>
          <p:cNvPr id="4" name="Picture 3" descr="A close-up of a graph">
            <a:extLst>
              <a:ext uri="{FF2B5EF4-FFF2-40B4-BE49-F238E27FC236}">
                <a16:creationId xmlns:a16="http://schemas.microsoft.com/office/drawing/2014/main" id="{A996F566-9770-CE4C-C086-170873BE5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7" r="25193" b="54269"/>
          <a:stretch/>
        </p:blipFill>
        <p:spPr>
          <a:xfrm>
            <a:off x="4143639" y="2217876"/>
            <a:ext cx="6979462" cy="279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8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DFFAB7E-4788-405E-A4D8-B6644AE46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F985A2-1334-4D86-97FF-10FE78059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11151DD-A4A6-4DD2-B74D-ECEC523EE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2000" cy="6099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6E686-2D2A-6329-4B61-89033D0D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98" y="631825"/>
            <a:ext cx="4465093" cy="27971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Least Happiest Countries</a:t>
            </a:r>
          </a:p>
        </p:txBody>
      </p:sp>
      <p:pic>
        <p:nvPicPr>
          <p:cNvPr id="4" name="Picture 3" descr="A close-up of a graph&#10;&#10;Description automatically generated">
            <a:extLst>
              <a:ext uri="{FF2B5EF4-FFF2-40B4-BE49-F238E27FC236}">
                <a16:creationId xmlns:a16="http://schemas.microsoft.com/office/drawing/2014/main" id="{1260B289-5883-9F00-DE76-E3D83C8C6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7" t="44289" r="22823" b="15174"/>
          <a:stretch/>
        </p:blipFill>
        <p:spPr>
          <a:xfrm>
            <a:off x="5227093" y="2156906"/>
            <a:ext cx="6445119" cy="314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54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7B5C06-12CC-49EF-A907-08F1B132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37401D6-BDB1-48AE-A98F-2CD05E92E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30000" cy="6105523"/>
          </a:xfrm>
          <a:custGeom>
            <a:avLst/>
            <a:gdLst>
              <a:gd name="connsiteX0" fmla="*/ 0 w 11430000"/>
              <a:gd name="connsiteY0" fmla="*/ 0 h 6105523"/>
              <a:gd name="connsiteX1" fmla="*/ 7267575 w 11430000"/>
              <a:gd name="connsiteY1" fmla="*/ 0 h 6105523"/>
              <a:gd name="connsiteX2" fmla="*/ 7267575 w 11430000"/>
              <a:gd name="connsiteY2" fmla="*/ 762000 h 6105523"/>
              <a:gd name="connsiteX3" fmla="*/ 11430000 w 11430000"/>
              <a:gd name="connsiteY3" fmla="*/ 762000 h 6105523"/>
              <a:gd name="connsiteX4" fmla="*/ 11430000 w 11430000"/>
              <a:gd name="connsiteY4" fmla="*/ 6105523 h 6105523"/>
              <a:gd name="connsiteX5" fmla="*/ 7267575 w 11430000"/>
              <a:gd name="connsiteY5" fmla="*/ 6105523 h 6105523"/>
              <a:gd name="connsiteX6" fmla="*/ 5334000 w 11430000"/>
              <a:gd name="connsiteY6" fmla="*/ 6105523 h 6105523"/>
              <a:gd name="connsiteX7" fmla="*/ 0 w 11430000"/>
              <a:gd name="connsiteY7" fmla="*/ 6105523 h 6105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0" h="6105523">
                <a:moveTo>
                  <a:pt x="0" y="0"/>
                </a:moveTo>
                <a:lnTo>
                  <a:pt x="7267575" y="0"/>
                </a:lnTo>
                <a:lnTo>
                  <a:pt x="7267575" y="762000"/>
                </a:lnTo>
                <a:lnTo>
                  <a:pt x="11430000" y="762000"/>
                </a:lnTo>
                <a:lnTo>
                  <a:pt x="11430000" y="6105523"/>
                </a:lnTo>
                <a:lnTo>
                  <a:pt x="7267575" y="6105523"/>
                </a:lnTo>
                <a:lnTo>
                  <a:pt x="5334000" y="6105523"/>
                </a:lnTo>
                <a:lnTo>
                  <a:pt x="0" y="6105523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508CD-7EA4-D70D-1FF0-159262523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52476"/>
            <a:ext cx="3012233" cy="9313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6000"/>
              <a:t>Issue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A989E-492F-BD79-FE90-6D07B65879EC}"/>
              </a:ext>
            </a:extLst>
          </p:cNvPr>
          <p:cNvSpPr txBox="1"/>
          <p:nvPr/>
        </p:nvSpPr>
        <p:spPr>
          <a:xfrm>
            <a:off x="1048326" y="1865745"/>
            <a:ext cx="1015307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Factors affecting levels of happiness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Low GDP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Low Social Support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Low Happiness Score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Low Life Expectancy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Lack of Freedom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Effects of Covid-19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CB1209-54C6-0708-612E-478BE0DD8EEC}"/>
              </a:ext>
            </a:extLst>
          </p:cNvPr>
          <p:cNvSpPr txBox="1"/>
          <p:nvPr/>
        </p:nvSpPr>
        <p:spPr>
          <a:xfrm>
            <a:off x="7007532" y="1865744"/>
            <a:ext cx="4136142" cy="26776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Less Opportunities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Unemployment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Limited Family Support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Insufficient safety equipment during crisis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Weak Community Ties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Corruption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Inequality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Lack of Technology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Below Par Healthcare facilities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Malnutrition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Gender Inequality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Restrictions on personal freedom</a:t>
            </a:r>
            <a:endParaRPr lang="en-PK" sz="1400" dirty="0"/>
          </a:p>
        </p:txBody>
      </p:sp>
    </p:spTree>
    <p:extLst>
      <p:ext uri="{BB962C8B-B14F-4D97-AF65-F5344CB8AC3E}">
        <p14:creationId xmlns:p14="http://schemas.microsoft.com/office/powerpoint/2010/main" val="632997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F7AF-8EB7-ABEB-8429-351F53C8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BBE37-955F-AB68-F0D9-3041656B6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269156"/>
            <a:ext cx="9144000" cy="3127248"/>
          </a:xfrm>
        </p:spPr>
        <p:txBody>
          <a:bodyPr/>
          <a:lstStyle/>
          <a:p>
            <a:r>
              <a:rPr lang="en-US" dirty="0"/>
              <a:t>GDP</a:t>
            </a:r>
          </a:p>
          <a:p>
            <a:r>
              <a:rPr lang="en-US" dirty="0"/>
              <a:t>Freedom</a:t>
            </a:r>
          </a:p>
          <a:p>
            <a:r>
              <a:rPr lang="en-US" dirty="0"/>
              <a:t>Life Expectancy</a:t>
            </a:r>
          </a:p>
          <a:p>
            <a:r>
              <a:rPr lang="en-US" dirty="0"/>
              <a:t>Happiness Score</a:t>
            </a:r>
          </a:p>
          <a:p>
            <a:r>
              <a:rPr lang="en-US" dirty="0"/>
              <a:t>Social Support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F3A3A2-DC38-D624-DCC5-F0926D37031D}"/>
              </a:ext>
            </a:extLst>
          </p:cNvPr>
          <p:cNvSpPr/>
          <p:nvPr/>
        </p:nvSpPr>
        <p:spPr>
          <a:xfrm>
            <a:off x="4972159" y="3017892"/>
            <a:ext cx="2819400" cy="107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Investment in Infrastructure</a:t>
            </a:r>
          </a:p>
          <a:p>
            <a:pPr algn="ctr"/>
            <a:r>
              <a:rPr lang="en-US" dirty="0"/>
              <a:t>Promote Small Businesses</a:t>
            </a:r>
            <a:endParaRPr lang="en-PK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949353-785D-D2D0-3C32-66838F0CA26F}"/>
              </a:ext>
            </a:extLst>
          </p:cNvPr>
          <p:cNvSpPr/>
          <p:nvPr/>
        </p:nvSpPr>
        <p:spPr>
          <a:xfrm>
            <a:off x="7855727" y="4246832"/>
            <a:ext cx="2870345" cy="13992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Equal Access to resources</a:t>
            </a:r>
          </a:p>
          <a:p>
            <a:pPr algn="ctr"/>
            <a:r>
              <a:rPr lang="en-US" dirty="0"/>
              <a:t>Invest in Healthcare</a:t>
            </a:r>
          </a:p>
          <a:p>
            <a:pPr algn="ctr"/>
            <a:r>
              <a:rPr lang="en-US" dirty="0"/>
              <a:t>Preventive care programs</a:t>
            </a:r>
            <a:endParaRPr lang="en-PK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A9CA64-5524-6712-DCD3-B908298CD4B6}"/>
              </a:ext>
            </a:extLst>
          </p:cNvPr>
          <p:cNvSpPr/>
          <p:nvPr/>
        </p:nvSpPr>
        <p:spPr>
          <a:xfrm>
            <a:off x="4972159" y="4246832"/>
            <a:ext cx="2819400" cy="13992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 Basic Necessities</a:t>
            </a:r>
          </a:p>
          <a:p>
            <a:pPr algn="ctr"/>
            <a:r>
              <a:rPr lang="en-US" dirty="0"/>
              <a:t>Adopt Technologies</a:t>
            </a:r>
          </a:p>
          <a:p>
            <a:pPr algn="ctr"/>
            <a:r>
              <a:rPr lang="en-US" dirty="0"/>
              <a:t>Build a strong Education system</a:t>
            </a:r>
            <a:endParaRPr lang="en-PK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2C4C38-CF7B-AF12-7351-853526B71AC0}"/>
              </a:ext>
            </a:extLst>
          </p:cNvPr>
          <p:cNvSpPr/>
          <p:nvPr/>
        </p:nvSpPr>
        <p:spPr>
          <a:xfrm>
            <a:off x="7855727" y="3017892"/>
            <a:ext cx="2839865" cy="107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Promote Cultural Practices</a:t>
            </a:r>
          </a:p>
          <a:p>
            <a:pPr algn="ctr"/>
            <a:r>
              <a:rPr lang="en-US" dirty="0"/>
              <a:t>Insurance Schemes</a:t>
            </a:r>
          </a:p>
          <a:p>
            <a:pPr algn="ctr"/>
            <a:r>
              <a:rPr lang="en-US" dirty="0"/>
              <a:t>Invest in Public Welfare</a:t>
            </a:r>
            <a:endParaRPr lang="en-PK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2A3E23-3219-4F88-4763-69D3254CA45B}"/>
              </a:ext>
            </a:extLst>
          </p:cNvPr>
          <p:cNvSpPr/>
          <p:nvPr/>
        </p:nvSpPr>
        <p:spPr>
          <a:xfrm>
            <a:off x="6381859" y="1788952"/>
            <a:ext cx="2819400" cy="107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Encourage Fair Trade Policies</a:t>
            </a:r>
          </a:p>
          <a:p>
            <a:pPr algn="ctr"/>
            <a:r>
              <a:rPr lang="en-US" dirty="0"/>
              <a:t>Empower Advocacy Programs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43787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7B5C06-12CC-49EF-A907-08F1B132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F7A785F-38D2-4D69-B6F1-ADCED2B8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50493-57A3-7532-4301-03FC28DD0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9336"/>
            <a:ext cx="4123899" cy="34755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/>
              <a:t>Life Expectancy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6024A19-36F8-751D-5AFB-0F31477CE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7" r="21289" b="1"/>
          <a:stretch/>
        </p:blipFill>
        <p:spPr>
          <a:xfrm>
            <a:off x="5334003" y="752477"/>
            <a:ext cx="6095997" cy="534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08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7B5C06-12CC-49EF-A907-08F1B132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F7A785F-38D2-4D69-B6F1-ADCED2B8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63F6A-A824-F11A-5027-BAE56D99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9336"/>
            <a:ext cx="4123899" cy="34755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/>
              <a:t>Social Support</a:t>
            </a:r>
          </a:p>
        </p:txBody>
      </p:sp>
      <p:pic>
        <p:nvPicPr>
          <p:cNvPr id="4" name="Picture 3" descr="A computer screen with a diagram&#10;&#10;Description automatically generated with medium confidence">
            <a:extLst>
              <a:ext uri="{FF2B5EF4-FFF2-40B4-BE49-F238E27FC236}">
                <a16:creationId xmlns:a16="http://schemas.microsoft.com/office/drawing/2014/main" id="{A4396AB1-FB40-66BC-1E41-29975075D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1" r="12466" b="-1"/>
          <a:stretch/>
        </p:blipFill>
        <p:spPr>
          <a:xfrm>
            <a:off x="5334003" y="752477"/>
            <a:ext cx="6095997" cy="534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77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17B5C06-12CC-49EF-A907-08F1B132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F7A785F-38D2-4D69-B6F1-ADCED2B8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8E02E-4E23-56E0-331C-1457FFBB0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9336"/>
            <a:ext cx="4123899" cy="34755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/>
              <a:t>Freedom</a:t>
            </a:r>
          </a:p>
        </p:txBody>
      </p:sp>
      <p:pic>
        <p:nvPicPr>
          <p:cNvPr id="4" name="Picture 3" descr="A close-up of a graph&#10;&#10;Description automatically generated">
            <a:extLst>
              <a:ext uri="{FF2B5EF4-FFF2-40B4-BE49-F238E27FC236}">
                <a16:creationId xmlns:a16="http://schemas.microsoft.com/office/drawing/2014/main" id="{909058DC-23FC-F5AA-CF5C-CAB390053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8" r="24660" b="-1"/>
          <a:stretch/>
        </p:blipFill>
        <p:spPr>
          <a:xfrm>
            <a:off x="5334003" y="752477"/>
            <a:ext cx="6095997" cy="534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91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7B5C06-12CC-49EF-A907-08F1B132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F7A785F-38D2-4D69-B6F1-ADCED2B8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C3A89-5B51-0777-27FD-1DFFE206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9336"/>
            <a:ext cx="4123899" cy="34755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/>
              <a:t>GDP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5FB09FB-BF27-106F-7502-0FB00D214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6" r="21279"/>
          <a:stretch/>
        </p:blipFill>
        <p:spPr>
          <a:xfrm>
            <a:off x="5334003" y="752477"/>
            <a:ext cx="6095997" cy="534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74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7B5C06-12CC-49EF-A907-08F1B132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F7A785F-38D2-4D69-B6F1-ADCED2B8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989DDD-DDBF-4D0F-B227-752242D4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39336"/>
            <a:ext cx="4123899" cy="34755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/>
              <a:t>Corruption</a:t>
            </a:r>
          </a:p>
        </p:txBody>
      </p:sp>
      <p:pic>
        <p:nvPicPr>
          <p:cNvPr id="4" name="Picture 3" descr="A close-up of a graph&#10;&#10;Description automatically generated">
            <a:extLst>
              <a:ext uri="{FF2B5EF4-FFF2-40B4-BE49-F238E27FC236}">
                <a16:creationId xmlns:a16="http://schemas.microsoft.com/office/drawing/2014/main" id="{AC4A83E1-F238-B756-1EC8-C3C996877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3" r="18538" b="2"/>
          <a:stretch/>
        </p:blipFill>
        <p:spPr>
          <a:xfrm>
            <a:off x="5334003" y="752477"/>
            <a:ext cx="6095997" cy="534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58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E1BB9D-FAFF-4C3E-9E44-13F8FBABC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7C897C6-901F-410E-B2AC-162ED94B0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9B63F-A58E-B9B2-5714-6B41D3F1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667" y="1517904"/>
            <a:ext cx="5370237" cy="27969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/>
              <a:t>Impact of the Pandemic</a:t>
            </a:r>
          </a:p>
        </p:txBody>
      </p:sp>
      <p:pic>
        <p:nvPicPr>
          <p:cNvPr id="6" name="Graphic 5" descr="Needle">
            <a:extLst>
              <a:ext uri="{FF2B5EF4-FFF2-40B4-BE49-F238E27FC236}">
                <a16:creationId xmlns:a16="http://schemas.microsoft.com/office/drawing/2014/main" id="{0F124D9D-0114-B58C-930D-595E2211F3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5467" y="1807634"/>
            <a:ext cx="3242732" cy="324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DFFAB7E-4788-405E-A4D8-B6644AE46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F985A2-1334-4D86-97FF-10FE78059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11151DD-A4A6-4DD2-B74D-ECEC523EE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2000" cy="6099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4BFD79-119C-C783-EE25-26ED34D3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17650"/>
            <a:ext cx="4465093" cy="27971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Before</a:t>
            </a:r>
          </a:p>
        </p:txBody>
      </p:sp>
      <p:pic>
        <p:nvPicPr>
          <p:cNvPr id="4" name="Picture 3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41DAADF3-65AC-1D8E-0884-27AB21176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359" y="1821233"/>
            <a:ext cx="5467186" cy="351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79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DFFAB7E-4788-405E-A4D8-B6644AE46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F985A2-1334-4D86-97FF-10FE78059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11151DD-A4A6-4DD2-B74D-ECEC523EE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2000" cy="6099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F2F58-4F7E-C690-3339-846DCAA9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17650"/>
            <a:ext cx="4465093" cy="27971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/>
              <a:t>After</a:t>
            </a:r>
          </a:p>
        </p:txBody>
      </p:sp>
      <p:pic>
        <p:nvPicPr>
          <p:cNvPr id="4" name="Picture 3" descr="A graph with numbers and a bar">
            <a:extLst>
              <a:ext uri="{FF2B5EF4-FFF2-40B4-BE49-F238E27FC236}">
                <a16:creationId xmlns:a16="http://schemas.microsoft.com/office/drawing/2014/main" id="{071D122A-891F-A856-ADDA-25C006895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365" y="1679616"/>
            <a:ext cx="6793726" cy="349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20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9306479-8C4D-4E4A-A330-DFC80A8A0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D15DB-E86D-2C32-3E29-D98574C2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022" y="0"/>
            <a:ext cx="5068121" cy="35068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/>
              <a:t>Conclusion</a:t>
            </a:r>
          </a:p>
        </p:txBody>
      </p:sp>
      <p:pic>
        <p:nvPicPr>
          <p:cNvPr id="16" name="Graphic 15" descr="Gavel">
            <a:extLst>
              <a:ext uri="{FF2B5EF4-FFF2-40B4-BE49-F238E27FC236}">
                <a16:creationId xmlns:a16="http://schemas.microsoft.com/office/drawing/2014/main" id="{DA47071B-8758-EBF3-61B4-08EDEADAF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951" y="1165485"/>
            <a:ext cx="4527030" cy="45270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9699D2-975A-3BD3-F50A-569123F32CC9}"/>
              </a:ext>
            </a:extLst>
          </p:cNvPr>
          <p:cNvSpPr/>
          <p:nvPr/>
        </p:nvSpPr>
        <p:spPr>
          <a:xfrm>
            <a:off x="5466078" y="2664969"/>
            <a:ext cx="4921931" cy="2544529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endParaRPr lang="en-PK"/>
          </a:p>
          <a:p>
            <a:pPr lvl="0">
              <a:buChar char="•"/>
            </a:pPr>
            <a:endParaRPr lang="en-PK"/>
          </a:p>
          <a:p>
            <a:pPr lvl="0">
              <a:buChar char="•"/>
            </a:pPr>
            <a:endParaRPr lang="en-PK"/>
          </a:p>
          <a:p>
            <a:pPr lvl="0">
              <a:buChar char="•"/>
            </a:pPr>
            <a:endParaRPr lang="en-P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E4780-AD61-4C86-46CC-E6F91D65A26E}"/>
              </a:ext>
            </a:extLst>
          </p:cNvPr>
          <p:cNvSpPr txBox="1"/>
          <p:nvPr/>
        </p:nvSpPr>
        <p:spPr>
          <a:xfrm>
            <a:off x="5888182" y="2419927"/>
            <a:ext cx="51677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Happiness is driven by a combination of Economic Stability, Social Support, Trust &amp; Healthcare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common factor between happiest ranked countries like Denmark or Finland is a balance of strong economies, robust social systems and low corruption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Pandemic highlighted the importance of social resilience and community generosity in maintaining well-being during crisis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5674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EEE4-61F7-FCB9-89C8-7144CDC5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lang="en-PK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4D0F986-18DD-3523-5BDD-68C7BDD742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2732962"/>
              </p:ext>
            </p:extLst>
          </p:nvPr>
        </p:nvGraphicFramePr>
        <p:xfrm>
          <a:off x="2339910" y="1931436"/>
          <a:ext cx="7373257" cy="4054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5538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33E8-0346-B4C5-324F-8E5C23FD4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2230-761D-82AA-F1F2-2E1CB079D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189987"/>
            <a:ext cx="9144000" cy="3907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b="0" i="0" dirty="0">
                <a:solidFill>
                  <a:srgbClr val="040C28"/>
                </a:solidFill>
                <a:effectLst/>
                <a:latin typeface="Google Sans"/>
              </a:rPr>
              <a:t>Gallup, the Oxford Wellbeing Research Centre, the UN Sustainable Development Solutions Network, and the WHR's Editorial Board. (2024) </a:t>
            </a:r>
            <a:r>
              <a:rPr lang="en-US" sz="1100" b="0" i="1" dirty="0">
                <a:solidFill>
                  <a:srgbClr val="040C28"/>
                </a:solidFill>
                <a:effectLst/>
                <a:latin typeface="Google Sans"/>
              </a:rPr>
              <a:t>World Happiness Report: About. </a:t>
            </a:r>
            <a:r>
              <a:rPr lang="en-US" sz="1100" dirty="0">
                <a:solidFill>
                  <a:srgbClr val="040C28"/>
                </a:solidFill>
                <a:latin typeface="Google Sans"/>
              </a:rPr>
              <a:t>[Online]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40C28"/>
                </a:solidFill>
                <a:latin typeface="Google Sans"/>
              </a:rPr>
              <a:t>Available from </a:t>
            </a:r>
            <a:r>
              <a:rPr lang="en-US" sz="1100" dirty="0">
                <a:solidFill>
                  <a:srgbClr val="040C28"/>
                </a:solidFill>
                <a:latin typeface="Google Sans"/>
                <a:hlinkClick r:id="rId2"/>
              </a:rPr>
              <a:t>https://worldhappiness.report/about/</a:t>
            </a:r>
            <a:r>
              <a:rPr lang="en-US" sz="1100" dirty="0">
                <a:solidFill>
                  <a:srgbClr val="040C28"/>
                </a:solidFill>
                <a:latin typeface="Google Sans"/>
              </a:rPr>
              <a:t> [Accessed 19 November 2024]</a:t>
            </a:r>
          </a:p>
          <a:p>
            <a:pPr marL="0" indent="0">
              <a:buNone/>
            </a:pPr>
            <a:r>
              <a:rPr lang="en-US" sz="1100" b="0" i="0" dirty="0">
                <a:solidFill>
                  <a:srgbClr val="040C28"/>
                </a:solidFill>
                <a:effectLst/>
                <a:latin typeface="Google Sans"/>
              </a:rPr>
              <a:t>Gallup, the Oxford Wellbeing Research Centre, the UN Sustainable Development Solutions Network, and the WHR's Editorial Board. (2024) </a:t>
            </a:r>
            <a:r>
              <a:rPr lang="en-US" sz="1100" b="0" i="1" dirty="0">
                <a:solidFill>
                  <a:srgbClr val="040C28"/>
                </a:solidFill>
                <a:effectLst/>
                <a:latin typeface="Google Sans"/>
              </a:rPr>
              <a:t>World Happiness Report: FAQ. </a:t>
            </a:r>
            <a:r>
              <a:rPr lang="en-US" sz="1100" dirty="0">
                <a:solidFill>
                  <a:srgbClr val="040C28"/>
                </a:solidFill>
                <a:latin typeface="Google Sans"/>
              </a:rPr>
              <a:t>[</a:t>
            </a:r>
            <a:r>
              <a:rPr lang="en-US" sz="1100" b="0" dirty="0">
                <a:solidFill>
                  <a:srgbClr val="040C28"/>
                </a:solidFill>
                <a:effectLst/>
                <a:latin typeface="Google Sans"/>
              </a:rPr>
              <a:t>Online]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40C28"/>
                </a:solidFill>
                <a:latin typeface="Google Sans"/>
              </a:rPr>
              <a:t>Available from </a:t>
            </a:r>
            <a:r>
              <a:rPr lang="en-US" sz="1100" dirty="0">
                <a:solidFill>
                  <a:srgbClr val="040C28"/>
                </a:solidFill>
                <a:latin typeface="Google Sans"/>
                <a:hlinkClick r:id="rId3"/>
              </a:rPr>
              <a:t>https://worldhappiness.report/faq/</a:t>
            </a:r>
            <a:r>
              <a:rPr lang="en-US" sz="1100" dirty="0">
                <a:solidFill>
                  <a:srgbClr val="040C28"/>
                </a:solidFill>
                <a:latin typeface="Google Sans"/>
              </a:rPr>
              <a:t> [Accessed 19 November 2024]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40C28"/>
                </a:solidFill>
                <a:latin typeface="Google Sans"/>
              </a:rPr>
              <a:t>Gallup. [2024] </a:t>
            </a:r>
            <a:r>
              <a:rPr lang="en-US" sz="1100" i="1" dirty="0">
                <a:solidFill>
                  <a:srgbClr val="040C28"/>
                </a:solidFill>
                <a:latin typeface="Google Sans"/>
              </a:rPr>
              <a:t>Analytics: Human Development Goals. </a:t>
            </a:r>
            <a:r>
              <a:rPr lang="en-US" sz="1100" dirty="0">
                <a:solidFill>
                  <a:srgbClr val="040C28"/>
                </a:solidFill>
                <a:latin typeface="Google Sans"/>
              </a:rPr>
              <a:t>[Online]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40C28"/>
                </a:solidFill>
                <a:latin typeface="Google Sans"/>
              </a:rPr>
              <a:t>Available from </a:t>
            </a:r>
            <a:r>
              <a:rPr lang="en-US" sz="1100" dirty="0">
                <a:solidFill>
                  <a:srgbClr val="040C28"/>
                </a:solidFill>
                <a:latin typeface="Google Sans"/>
                <a:hlinkClick r:id="rId4"/>
              </a:rPr>
              <a:t>https://www.gallup.com/analytics/318350/human-development-goals.aspx</a:t>
            </a:r>
            <a:r>
              <a:rPr lang="en-US" sz="1100" dirty="0">
                <a:solidFill>
                  <a:srgbClr val="040C28"/>
                </a:solidFill>
                <a:latin typeface="Google Sans"/>
              </a:rPr>
              <a:t> [Accessed 21 November 2024]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40C28"/>
                </a:solidFill>
                <a:latin typeface="Google Sans"/>
              </a:rPr>
              <a:t>Helliwell, J.F., Layard, R. &amp; Sachs, J. (eds.) 2021, World Happiness Report, available at: https://worldhappiness.report [Accessed 24 Nov. 2024].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40C28"/>
                </a:solidFill>
                <a:latin typeface="Google Sans"/>
              </a:rPr>
              <a:t>WHO Global Health Observatory, Data and statistics, available at: https://www.who.int/data/gho [Accessed 24 Nov. 2024].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40C28"/>
                </a:solidFill>
                <a:latin typeface="Google Sans"/>
              </a:rPr>
              <a:t>United Nations, Sustainable Development Goals, available at: https://www.un.org/sustainabledevelopment/sustainable-development-goals/ [Accessed 24 Nov. 2024].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40C28"/>
                </a:solidFill>
                <a:latin typeface="Google Sans"/>
              </a:rPr>
              <a:t>WHO Global Health Observatory, Health and well-being, available at: https://www.who.int/data/gho/data/major-themes/health-and-well-being [Accessed 24 Nov. 2024].</a:t>
            </a:r>
          </a:p>
          <a:p>
            <a:pPr marL="0" indent="0">
              <a:buNone/>
            </a:pPr>
            <a:endParaRPr lang="en-US" sz="1400" dirty="0">
              <a:solidFill>
                <a:srgbClr val="040C28"/>
              </a:solidFill>
              <a:latin typeface="Google Sans"/>
            </a:endParaRPr>
          </a:p>
          <a:p>
            <a:pPr marL="0" indent="0">
              <a:buNone/>
            </a:pPr>
            <a:endParaRPr lang="en-US" sz="1400" dirty="0">
              <a:solidFill>
                <a:srgbClr val="040C28"/>
              </a:solidFill>
              <a:latin typeface="Google Sans"/>
            </a:endParaRPr>
          </a:p>
          <a:p>
            <a:pPr marL="0" indent="0">
              <a:buNone/>
            </a:pPr>
            <a:endParaRPr lang="en-US" sz="1400" dirty="0">
              <a:solidFill>
                <a:srgbClr val="040C28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935337521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719</Words>
  <Application>Microsoft Office PowerPoint</Application>
  <PresentationFormat>Widescreen</PresentationFormat>
  <Paragraphs>106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Aharoni</vt:lpstr>
      <vt:lpstr>Arial</vt:lpstr>
      <vt:lpstr>Avenir Next LT Pro</vt:lpstr>
      <vt:lpstr>Google Sans</vt:lpstr>
      <vt:lpstr>Wingdings</vt:lpstr>
      <vt:lpstr>PrismaticVTI</vt:lpstr>
      <vt:lpstr>World Happiness Report</vt:lpstr>
      <vt:lpstr>The Starting Point: Measuring Happiness Worldwide</vt:lpstr>
      <vt:lpstr>Key Indicators for Happiness</vt:lpstr>
      <vt:lpstr>PowerPoint Presentation</vt:lpstr>
      <vt:lpstr>Methodology</vt:lpstr>
      <vt:lpstr>Top 10 Happiest Countries</vt:lpstr>
      <vt:lpstr>Least Happiest Countries</vt:lpstr>
      <vt:lpstr>Issue</vt:lpstr>
      <vt:lpstr>Solutions</vt:lpstr>
      <vt:lpstr>Life Expectancy</vt:lpstr>
      <vt:lpstr>Social Support</vt:lpstr>
      <vt:lpstr>Freedom</vt:lpstr>
      <vt:lpstr>GDP</vt:lpstr>
      <vt:lpstr>Corruption</vt:lpstr>
      <vt:lpstr>Impact of the Pandemic</vt:lpstr>
      <vt:lpstr>Before</vt:lpstr>
      <vt:lpstr>After</vt:lpstr>
      <vt:lpstr>Conclusion</vt:lpstr>
      <vt:lpstr>Recommendations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Shah</dc:creator>
  <cp:lastModifiedBy>Mary Santhra Nedumparambil Peter</cp:lastModifiedBy>
  <cp:revision>10</cp:revision>
  <dcterms:created xsi:type="dcterms:W3CDTF">2024-11-23T11:15:58Z</dcterms:created>
  <dcterms:modified xsi:type="dcterms:W3CDTF">2026-09-25T20:09:33Z</dcterms:modified>
</cp:coreProperties>
</file>